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examiners, faculty members, and colleagues. I am Ashish Kumar, University Roll Number 2302840100058, from the Department of Computer Science &amp; Engineering at United Institute of Technology, Prayagraj. Under the supervision of Mr. Ujjwal Singh, I present my mini project titled 'House Price Prediction Using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introduce the fundamental problem. Real estate valuation is a supervised regression task where past sales data teaches the model how physical and locational attributes impact price. Our complete end-to-end system achieves an R-squared score of 89.06% with an average error of $17,676, delivering instant valuations in less than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real estate appraisal faces three critical flaws: subjectivity, high-dimensional complexity across 79+ features, and slow, expensive turnaround. Our proposed Automated Valuation Model replaces manual guesswork with machine learning, computing accurate fair-market values in under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objectives cover the entire machine learning lifecycle: cleaning raw data, expanding categorical variables to 244 features, benchmarking three distinct models, validating with 5-fold cross validation, extracting Gini feature importances, and deploying interactive Streamlit and Flask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used is the Ames Housing dataset compiled by Dean De Cock. It includes 1,460 residential properties described across 81 raw attributes. We partitioned the data into an 80% training set of 1,168 homes and a 20% hold-out test set of 292 homes, expanding to 244 numeric features after encoding.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is critical in regression. We handle missing data using median for numbers and mode or 'None' for categories. One-hot encoding creates 244 numeric features while drop_first=True prevents the dummy variable trap. Crucially, imputers are fitted solely on the training data, guaranteeing zero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methodology follows a structured 6-stage lifecycle: from initial data cleaning and encoding, through model training, rigorous evaluation with cross validation, model serialization, and interactive deployment via Streamlit and Flask.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visualize the system architecture and runtime flowchart. When a user enters house specs on the web interface, the system validates the inputs, preprocesses and aligns them with our 244-column schema, executes the Random Forest ensemble, and outputs the estimated price alongside key valuation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three distinct regression paradigms: Ordinary Least Squares Linear Regression, a single Decision Tree Regressor, and a Tuned Random Forest Regressor. Random Forest overcomes the linearity constraints of OLS and the variance instability of decision trees by averaging 300 decorrelated trees.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regression performance, we rely on Mean Absolute Error, Root Mean Squared Error, and R-squared. Our tuned Random Forest achieves an average error of $17,676.40 and explains 89.06% of price variance on unseen test homes.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compare the three models side by side. Tuned Random Forest clearly leads across all three evaluation criteria, reducing Mean Absolute Error to $17,676.40 and boosting the R-squared score to 89.06%. The chart on the right visually underscores this performance advantage.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discussion, we analyze why Random Forest wins. It reduces error by 17.6% compared to linear regression, while a single decision tree overfits. Furthermore, our 5-fold cross validation score of 0.8742 ± 0.018 confirms that the model generalizes robustly across different property partitions.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importance analysis using Gini impurity reveals that Overall Quality (56.8%) and Ground Living Area (12.4%) drive over 69% of property value. Secondary drivers include basement size, garage capacity, and year built.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follows clean software engineering principles with modular Python files for preprocessing, training, evaluation, and prediction. The code snippet on the right shows our Random Forest training pipeline parameterized with 300 estimators and strict regularization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showcase the deployed web application. On the left is the valuation engine input page with sliders and controls for 14 features. On the right is the portal homepage displaying live model performance badges and instant appraisal calculation CTAs.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delivers clear advantages: objective valuation, sub-50ms latency, and high-dimensional non-linear capability. These features provide immediate real-world value to mortgage banks, retail home buyers, municipal tax assessors, and institutional investment funds.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future enhancements include trying gradient boosting models like XGBoost and LightGBM, integrating geospatial and school quality data, using CNN computer vision to score house photo conditions, and incorporating macroeconomic interest rates.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complete, production-grade automated valuation system. Our Tuned Random Forest delivers 89.06% accuracy with $17,676 MAE, driven primarily by quality and living area, providing instant real-time predictions in under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external examiner and faculty members for your valuable time and consideration. I am now open to your questions and eager to discuss the technical implementation, mathematical formulas, and experimental results in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uit_logo.png"/>
          <p:cNvPicPr>
            <a:picLocks noChangeAspect="1"/>
          </p:cNvPicPr>
          <p:nvPr/>
        </p:nvPicPr>
        <p:blipFill>
          <a:blip r:embed="rId3"/>
          <a:stretch>
            <a:fillRect/>
          </a:stretch>
        </p:blipFill>
        <p:spPr>
          <a:xfrm>
            <a:off x="914400" y="594360"/>
            <a:ext cx="1188720" cy="1188720"/>
          </a:xfrm>
          <a:prstGeom prst="rect">
            <a:avLst/>
          </a:prstGeom>
        </p:spPr>
      </p:pic>
      <p:sp>
        <p:nvSpPr>
          <p:cNvPr id="4" name="TextBox 3"/>
          <p:cNvSpPr txBox="1"/>
          <p:nvPr/>
        </p:nvSpPr>
        <p:spPr>
          <a:xfrm>
            <a:off x="2286000" y="548640"/>
            <a:ext cx="8961120" cy="1280160"/>
          </a:xfrm>
          <a:prstGeom prst="rect">
            <a:avLst/>
          </a:prstGeom>
          <a:noFill/>
        </p:spPr>
        <p:txBody>
          <a:bodyPr wrap="square" lIns="0" tIns="0" rIns="0" bIns="0">
            <a:spAutoFit/>
          </a:bodyPr>
          <a:lstStyle/>
          <a:p>
            <a:pPr>
              <a:spcAft>
                <a:spcPts val="400"/>
              </a:spcAft>
              <a:defRPr sz="1700" b="1">
                <a:solidFill>
                  <a:srgbClr val="0F1E3C"/>
                </a:solidFill>
                <a:latin typeface="Segoe UI"/>
              </a:defRPr>
            </a:pPr>
            <a:r>
              <a:t>UNITED INSTITUTE OF TECHNOLOGY, PRAYAGRAJ (284)</a:t>
            </a:r>
          </a:p>
          <a:p>
            <a:pPr>
              <a:spcAft>
                <a:spcPts val="300"/>
              </a:spcAft>
              <a:defRPr sz="1200" b="1">
                <a:solidFill>
                  <a:srgbClr val="1D4ED8"/>
                </a:solidFill>
                <a:latin typeface="Segoe UI"/>
              </a:defRPr>
            </a:pPr>
            <a:r>
              <a:t>Department of Computer Science &amp; Engineering  |  Session 2026-2027</a:t>
            </a:r>
          </a:p>
          <a:p>
            <a:pPr>
              <a:defRPr sz="1100">
                <a:solidFill>
                  <a:srgbClr val="50647D"/>
                </a:solidFill>
                <a:latin typeface="Segoe UI"/>
              </a:defRPr>
            </a:pPr>
            <a:r>
              <a:t>(Affiliated to Dr. A.P.J. Abdul Kalam Technical University, Lucknow)</a:t>
            </a:r>
          </a:p>
        </p:txBody>
      </p:sp>
      <p:sp>
        <p:nvSpPr>
          <p:cNvPr id="5" name="TextBox 4"/>
          <p:cNvSpPr txBox="1"/>
          <p:nvPr/>
        </p:nvSpPr>
        <p:spPr>
          <a:xfrm>
            <a:off x="914400" y="1965960"/>
            <a:ext cx="10332720" cy="1920240"/>
          </a:xfrm>
          <a:prstGeom prst="rect">
            <a:avLst/>
          </a:prstGeom>
          <a:noFill/>
        </p:spPr>
        <p:txBody>
          <a:bodyPr wrap="square" lIns="0" tIns="0" rIns="0" bIns="0">
            <a:spAutoFit/>
          </a:bodyPr>
          <a:lstStyle/>
          <a:p>
            <a:pPr>
              <a:spcAft>
                <a:spcPts val="600"/>
              </a:spcAft>
              <a:defRPr sz="1150" b="1">
                <a:solidFill>
                  <a:srgbClr val="0284C7"/>
                </a:solidFill>
                <a:latin typeface="Segoe UI"/>
              </a:defRPr>
            </a:pPr>
            <a:r>
              <a:t>A MINI PROJECT PRESENTATION ON</a:t>
            </a:r>
          </a:p>
          <a:p>
            <a:pPr>
              <a:spcAft>
                <a:spcPts val="800"/>
              </a:spcAft>
              <a:defRPr sz="3400" b="1">
                <a:solidFill>
                  <a:srgbClr val="0F1E3C"/>
                </a:solidFill>
                <a:latin typeface="Segoe UI"/>
              </a:defRPr>
            </a:pPr>
            <a:r>
              <a:t>House Price Prediction Using Machine Learning</a:t>
            </a:r>
          </a:p>
          <a:p>
            <a:pPr>
              <a:defRPr sz="1450">
                <a:solidFill>
                  <a:srgbClr val="50647D"/>
                </a:solidFill>
                <a:latin typeface="Segoe UI"/>
              </a:defRPr>
            </a:pPr>
            <a:r>
              <a:t>An End-to-End Supervised Regression System Powered by Tuned Random Forest &amp; Interactive Web Deployment</a:t>
            </a:r>
          </a:p>
        </p:txBody>
      </p:sp>
      <p:sp>
        <p:nvSpPr>
          <p:cNvPr id="6" name="Rounded Rectangle 5"/>
          <p:cNvSpPr/>
          <p:nvPr/>
        </p:nvSpPr>
        <p:spPr>
          <a:xfrm>
            <a:off x="914400" y="4160520"/>
            <a:ext cx="4937760" cy="2148840"/>
          </a:xfrm>
          <a:prstGeom prst="roundRect">
            <a:avLst/>
          </a:prstGeom>
          <a:solidFill>
            <a:srgbClr val="FFFF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343400"/>
            <a:ext cx="4389120" cy="1783080"/>
          </a:xfrm>
          <a:prstGeom prst="rect">
            <a:avLst/>
          </a:prstGeom>
          <a:noFill/>
        </p:spPr>
        <p:txBody>
          <a:bodyPr wrap="square" lIns="0" tIns="0" rIns="0" bIns="0">
            <a:spAutoFit/>
          </a:bodyPr>
          <a:lstStyle/>
          <a:p>
            <a:pPr>
              <a:spcAft>
                <a:spcPts val="600"/>
              </a:spcAft>
              <a:defRPr sz="1050" b="1">
                <a:solidFill>
                  <a:srgbClr val="1D4ED8"/>
                </a:solidFill>
              </a:defRPr>
            </a:pPr>
            <a:r>
              <a:t>SUBMITTED BY</a:t>
            </a:r>
          </a:p>
          <a:p>
            <a:pPr>
              <a:spcAft>
                <a:spcPts val="400"/>
              </a:spcAft>
              <a:defRPr sz="1800" b="1">
                <a:solidFill>
                  <a:srgbClr val="0F1E3C"/>
                </a:solidFill>
              </a:defRPr>
            </a:pPr>
            <a:r>
              <a:t>Ashish Kumar</a:t>
            </a:r>
          </a:p>
          <a:p>
            <a:pPr>
              <a:spcAft>
                <a:spcPts val="200"/>
              </a:spcAft>
              <a:defRPr sz="1200" b="1">
                <a:solidFill>
                  <a:srgbClr val="1E293B"/>
                </a:solidFill>
              </a:defRPr>
            </a:pPr>
            <a:r>
              <a:t>Uni. Roll No.: 2302840100058</a:t>
            </a:r>
          </a:p>
          <a:p>
            <a:pPr>
              <a:defRPr sz="1100">
                <a:solidFill>
                  <a:srgbClr val="50647D"/>
                </a:solidFill>
              </a:defRPr>
            </a:pPr>
            <a:r>
              <a:t>B.Tech (Computer Science &amp; Engineering)</a:t>
            </a:r>
          </a:p>
        </p:txBody>
      </p:sp>
      <p:sp>
        <p:nvSpPr>
          <p:cNvPr id="8" name="Rounded Rectangle 7"/>
          <p:cNvSpPr/>
          <p:nvPr/>
        </p:nvSpPr>
        <p:spPr>
          <a:xfrm>
            <a:off x="6217920" y="4160520"/>
            <a:ext cx="5029200" cy="2148840"/>
          </a:xfrm>
          <a:prstGeom prst="roundRect">
            <a:avLst/>
          </a:prstGeom>
          <a:solidFill>
            <a:srgbClr val="FFFF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4343400"/>
            <a:ext cx="4480560" cy="1783080"/>
          </a:xfrm>
          <a:prstGeom prst="rect">
            <a:avLst/>
          </a:prstGeom>
          <a:noFill/>
        </p:spPr>
        <p:txBody>
          <a:bodyPr wrap="square" lIns="0" tIns="0" rIns="0" bIns="0">
            <a:spAutoFit/>
          </a:bodyPr>
          <a:lstStyle/>
          <a:p>
            <a:pPr>
              <a:spcAft>
                <a:spcPts val="600"/>
              </a:spcAft>
              <a:defRPr sz="1050" b="1">
                <a:solidFill>
                  <a:srgbClr val="059669"/>
                </a:solidFill>
              </a:defRPr>
            </a:pPr>
            <a:r>
              <a:t>SUPERVISOR</a:t>
            </a:r>
          </a:p>
          <a:p>
            <a:pPr>
              <a:spcAft>
                <a:spcPts val="400"/>
              </a:spcAft>
              <a:defRPr sz="1800" b="1">
                <a:solidFill>
                  <a:srgbClr val="0F1E3C"/>
                </a:solidFill>
              </a:defRPr>
            </a:pPr>
            <a:r>
              <a:t>Ujjwal Singh</a:t>
            </a:r>
          </a:p>
          <a:p>
            <a:pPr>
              <a:spcAft>
                <a:spcPts val="200"/>
              </a:spcAft>
              <a:defRPr sz="1200" b="1">
                <a:solidFill>
                  <a:srgbClr val="1E293B"/>
                </a:solidFill>
              </a:defRPr>
            </a:pPr>
            <a:r>
              <a:t>Assistant Professor</a:t>
            </a:r>
          </a:p>
          <a:p>
            <a:pPr>
              <a:defRPr sz="1100">
                <a:solidFill>
                  <a:srgbClr val="50647D"/>
                </a:solidFill>
              </a:defRPr>
            </a:pPr>
            <a:r>
              <a:t>Department of Computer Science &amp; Engineering</a:t>
            </a:r>
            <a:br/>
            <a:r>
              <a:t>United Institute of Technology, Prayagraj (284)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Introduction</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02 / 19</a:t>
            </a:r>
          </a:p>
        </p:txBody>
      </p:sp>
      <p:sp>
        <p:nvSpPr>
          <p:cNvPr id="6" name="Rounded Rectangle 5"/>
          <p:cNvSpPr/>
          <p:nvPr/>
        </p:nvSpPr>
        <p:spPr>
          <a:xfrm>
            <a:off x="731520" y="1371600"/>
            <a:ext cx="56692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5120640" cy="4389120"/>
          </a:xfrm>
          <a:prstGeom prst="rect">
            <a:avLst/>
          </a:prstGeom>
          <a:noFill/>
        </p:spPr>
        <p:txBody>
          <a:bodyPr wrap="square">
            <a:spAutoFit/>
          </a:bodyPr>
          <a:lstStyle/>
          <a:p>
            <a:pPr>
              <a:spcAft>
                <a:spcPts val="1600"/>
              </a:spcAft>
              <a:defRPr sz="1500" b="1">
                <a:solidFill>
                  <a:srgbClr val="1D4ED8"/>
                </a:solidFill>
              </a:defRPr>
            </a:pPr>
            <a:r>
              <a:t>Supervised Regression &amp; End-to-End System</a:t>
            </a:r>
          </a:p>
          <a:p>
            <a:pPr>
              <a:spcAft>
                <a:spcPts val="1400"/>
              </a:spcAft>
            </a:pPr>
            <a:r>
              <a:rPr b="1" sz="1200">
                <a:solidFill>
                  <a:srgbClr val="1D4ED8"/>
                </a:solidFill>
                <a:latin typeface="Segoe UI"/>
              </a:rPr>
              <a:t>• </a:t>
            </a:r>
            <a:r>
              <a:rPr b="1" sz="1200">
                <a:solidFill>
                  <a:srgbClr val="0F1E3C"/>
                </a:solidFill>
                <a:latin typeface="Segoe UI"/>
              </a:rPr>
              <a:t>Supervised Regression Problem: </a:t>
            </a:r>
            <a:r>
              <a:rPr b="0" sz="1200">
                <a:solidFill>
                  <a:srgbClr val="1E293B"/>
                </a:solidFill>
                <a:latin typeface="Segoe UI"/>
              </a:rPr>
              <a:t>House price prediction maps multi-dimensional property features to a continuous dollar valuation (SalePrice).</a:t>
            </a:r>
          </a:p>
          <a:p>
            <a:pPr>
              <a:spcAft>
                <a:spcPts val="1400"/>
              </a:spcAft>
            </a:pPr>
            <a:r>
              <a:rPr b="1" sz="1200">
                <a:solidFill>
                  <a:srgbClr val="1D4ED8"/>
                </a:solidFill>
                <a:latin typeface="Segoe UI"/>
              </a:rPr>
              <a:t>• </a:t>
            </a:r>
            <a:r>
              <a:rPr b="1" sz="1200">
                <a:solidFill>
                  <a:srgbClr val="0F1E3C"/>
                </a:solidFill>
                <a:latin typeface="Segoe UI"/>
              </a:rPr>
              <a:t>Empirical Historical Learning: </a:t>
            </a:r>
            <a:r>
              <a:rPr b="0" sz="1200">
                <a:solidFill>
                  <a:srgbClr val="1E293B"/>
                </a:solidFill>
                <a:latin typeface="Segoe UI"/>
              </a:rPr>
              <a:t>The model learns directly from historical property sales containing known ground-truth transaction prices.</a:t>
            </a:r>
          </a:p>
          <a:p>
            <a:pPr>
              <a:spcAft>
                <a:spcPts val="1400"/>
              </a:spcAft>
            </a:pPr>
            <a:r>
              <a:rPr b="1" sz="1200">
                <a:solidFill>
                  <a:srgbClr val="1D4ED8"/>
                </a:solidFill>
                <a:latin typeface="Segoe UI"/>
              </a:rPr>
              <a:t>• </a:t>
            </a:r>
            <a:r>
              <a:rPr b="1" sz="1200">
                <a:solidFill>
                  <a:srgbClr val="0F1E3C"/>
                </a:solidFill>
                <a:latin typeface="Segoe UI"/>
              </a:rPr>
              <a:t>End-to-End Architecture: </a:t>
            </a:r>
            <a:r>
              <a:rPr b="0" sz="1200">
                <a:solidFill>
                  <a:srgbClr val="1E293B"/>
                </a:solidFill>
                <a:latin typeface="Segoe UI"/>
              </a:rPr>
              <a:t>Encompasses data cleaning, categorical encoding, model training, cross-validation, and an interactive web application.</a:t>
            </a:r>
          </a:p>
          <a:p>
            <a:pPr>
              <a:spcAft>
                <a:spcPts val="1400"/>
              </a:spcAft>
            </a:pPr>
            <a:r>
              <a:rPr b="1" sz="1200">
                <a:solidFill>
                  <a:srgbClr val="1D4ED8"/>
                </a:solidFill>
                <a:latin typeface="Segoe UI"/>
              </a:rPr>
              <a:t>• </a:t>
            </a:r>
            <a:r>
              <a:rPr b="1" sz="1200">
                <a:solidFill>
                  <a:srgbClr val="0F1E3C"/>
                </a:solidFill>
                <a:latin typeface="Segoe UI"/>
              </a:rPr>
              <a:t>Tuned Random Forest Regressor: </a:t>
            </a:r>
            <a:r>
              <a:rPr b="0" sz="1200">
                <a:solidFill>
                  <a:srgbClr val="1E293B"/>
                </a:solidFill>
                <a:latin typeface="Segoe UI"/>
              </a:rPr>
              <a:t>Delivers the highest predictive accuracy by averaging 300 decorrelated decision trees, reducing variance without overfitting.</a:t>
            </a:r>
          </a:p>
        </p:txBody>
      </p:sp>
      <p:sp>
        <p:nvSpPr>
          <p:cNvPr id="8" name="Rounded Rectangle 7"/>
          <p:cNvSpPr/>
          <p:nvPr/>
        </p:nvSpPr>
        <p:spPr>
          <a:xfrm>
            <a:off x="6675120" y="1371600"/>
            <a:ext cx="47548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645920"/>
            <a:ext cx="4206240" cy="457200"/>
          </a:xfrm>
          <a:prstGeom prst="rect">
            <a:avLst/>
          </a:prstGeom>
          <a:noFill/>
        </p:spPr>
        <p:txBody>
          <a:bodyPr wrap="none">
            <a:spAutoFit/>
          </a:bodyPr>
          <a:lstStyle/>
          <a:p>
            <a:pPr>
              <a:defRPr sz="1500" b="1">
                <a:solidFill>
                  <a:srgbClr val="0F1E3C"/>
                </a:solidFill>
              </a:defRPr>
            </a:pPr>
            <a:r>
              <a:t>Key Project Highlights</a:t>
            </a:r>
          </a:p>
        </p:txBody>
      </p:sp>
      <p:graphicFrame>
        <p:nvGraphicFramePr>
          <p:cNvPr id="10" name="Table 9"/>
          <p:cNvGraphicFramePr>
            <a:graphicFrameLocks noGrp="1"/>
          </p:cNvGraphicFramePr>
          <p:nvPr/>
        </p:nvGraphicFramePr>
        <p:xfrm>
          <a:off x="6949440" y="2194560"/>
          <a:ext cx="4206240" cy="2286000"/>
        </p:xfrm>
        <a:graphic>
          <a:graphicData uri="http://schemas.openxmlformats.org/drawingml/2006/table">
            <a:tbl>
              <a:tblPr firstRow="1" bandRow="1">
                <a:tableStyleId>{5C22544A-7EE6-4342-B048-85BDC9FD1C3A}</a:tableStyleId>
              </a:tblPr>
              <a:tblGrid>
                <a:gridCol w="2560320"/>
                <a:gridCol w="1645920"/>
              </a:tblGrid>
              <a:tr h="457200">
                <a:tc>
                  <a:txBody>
                    <a:bodyPr/>
                    <a:lstStyle/>
                    <a:p>
                      <a:pPr>
                        <a:defRPr sz="1100" b="1">
                          <a:solidFill>
                            <a:srgbClr val="FFFFFF"/>
                          </a:solidFill>
                          <a:latin typeface="Segoe UI"/>
                        </a:defRPr>
                      </a:pPr>
                      <a:r>
                        <a:t>Key Highlights</a:t>
                      </a:r>
                    </a:p>
                  </a:txBody>
                  <a:tcPr anchor="ctr" marT="73152" marB="73152" marL="109728" marR="109728">
                    <a:solidFill>
                      <a:srgbClr val="1E3A8A"/>
                    </a:solidFill>
                  </a:tcPr>
                </a:tc>
                <a:tc>
                  <a:txBody>
                    <a:bodyPr/>
                    <a:lstStyle/>
                    <a:p>
                      <a:pPr>
                        <a:defRPr sz="1100" b="1">
                          <a:solidFill>
                            <a:srgbClr val="FFFFFF"/>
                          </a:solidFill>
                          <a:latin typeface="Segoe UI"/>
                        </a:defRPr>
                      </a:pPr>
                      <a:r>
                        <a:t>Value</a:t>
                      </a:r>
                    </a:p>
                  </a:txBody>
                  <a:tcPr anchor="ctr" marT="73152" marB="73152" marL="109728" marR="109728">
                    <a:solidFill>
                      <a:srgbClr val="1E3A8A"/>
                    </a:solidFill>
                  </a:tcPr>
                </a:tc>
              </a:tr>
              <a:tr h="457200">
                <a:tc>
                  <a:txBody>
                    <a:bodyPr/>
                    <a:lstStyle/>
                    <a:p>
                      <a:pPr>
                        <a:defRPr sz="1050" b="1">
                          <a:solidFill>
                            <a:srgbClr val="0F1E3C"/>
                          </a:solidFill>
                          <a:latin typeface="Segoe UI"/>
                        </a:defRPr>
                      </a:pPr>
                      <a:r>
                        <a:t>Accuracy (R² Score)</a:t>
                      </a:r>
                    </a:p>
                  </a:txBody>
                  <a:tcPr anchor="ctr" marT="73152" marB="73152" marL="109728" marR="109728">
                    <a:solidFill>
                      <a:srgbClr val="FFFFFF"/>
                    </a:solidFill>
                  </a:tcPr>
                </a:tc>
                <a:tc>
                  <a:txBody>
                    <a:bodyPr/>
                    <a:lstStyle/>
                    <a:p>
                      <a:pPr>
                        <a:defRPr sz="1050" b="0">
                          <a:solidFill>
                            <a:srgbClr val="1E293B"/>
                          </a:solidFill>
                          <a:latin typeface="Segoe UI"/>
                        </a:defRPr>
                      </a:pPr>
                      <a:r>
                        <a:t>89.06%</a:t>
                      </a:r>
                    </a:p>
                  </a:txBody>
                  <a:tcPr anchor="ctr" marT="73152" marB="73152" marL="109728" marR="109728">
                    <a:solidFill>
                      <a:srgbClr val="FFFFFF"/>
                    </a:solidFill>
                  </a:tcPr>
                </a:tc>
              </a:tr>
              <a:tr h="457200">
                <a:tc>
                  <a:txBody>
                    <a:bodyPr/>
                    <a:lstStyle/>
                    <a:p>
                      <a:pPr>
                        <a:defRPr sz="1050" b="1">
                          <a:solidFill>
                            <a:srgbClr val="0F1E3C"/>
                          </a:solidFill>
                          <a:latin typeface="Segoe UI"/>
                        </a:defRPr>
                      </a:pPr>
                      <a:r>
                        <a:t>Mean Absolute Error</a:t>
                      </a:r>
                    </a:p>
                  </a:txBody>
                  <a:tcPr anchor="ctr" marT="73152" marB="73152" marL="109728" marR="109728">
                    <a:solidFill>
                      <a:srgbClr val="F1F5FC"/>
                    </a:solidFill>
                  </a:tcPr>
                </a:tc>
                <a:tc>
                  <a:txBody>
                    <a:bodyPr/>
                    <a:lstStyle/>
                    <a:p>
                      <a:pPr>
                        <a:defRPr sz="1050" b="0">
                          <a:solidFill>
                            <a:srgbClr val="1E293B"/>
                          </a:solidFill>
                          <a:latin typeface="Segoe UI"/>
                        </a:defRPr>
                      </a:pPr>
                      <a:r>
                        <a:t>$17,676</a:t>
                      </a:r>
                    </a:p>
                  </a:txBody>
                  <a:tcPr anchor="ctr" marT="73152" marB="73152" marL="109728" marR="109728">
                    <a:solidFill>
                      <a:srgbClr val="F1F5FC"/>
                    </a:solidFill>
                  </a:tcPr>
                </a:tc>
              </a:tr>
              <a:tr h="457200">
                <a:tc>
                  <a:txBody>
                    <a:bodyPr/>
                    <a:lstStyle/>
                    <a:p>
                      <a:pPr>
                        <a:defRPr sz="1050" b="1">
                          <a:solidFill>
                            <a:srgbClr val="0F1E3C"/>
                          </a:solidFill>
                          <a:latin typeface="Segoe UI"/>
                        </a:defRPr>
                      </a:pPr>
                      <a:r>
                        <a:t>Properties Analyzed</a:t>
                      </a:r>
                    </a:p>
                  </a:txBody>
                  <a:tcPr anchor="ctr" marT="73152" marB="73152" marL="109728" marR="109728">
                    <a:solidFill>
                      <a:srgbClr val="FFFFFF"/>
                    </a:solidFill>
                  </a:tcPr>
                </a:tc>
                <a:tc>
                  <a:txBody>
                    <a:bodyPr/>
                    <a:lstStyle/>
                    <a:p>
                      <a:pPr>
                        <a:defRPr sz="1050" b="0">
                          <a:solidFill>
                            <a:srgbClr val="1E293B"/>
                          </a:solidFill>
                          <a:latin typeface="Segoe UI"/>
                        </a:defRPr>
                      </a:pPr>
                      <a:r>
                        <a:t>1,460</a:t>
                      </a:r>
                    </a:p>
                  </a:txBody>
                  <a:tcPr anchor="ctr" marT="73152" marB="73152" marL="109728" marR="109728">
                    <a:solidFill>
                      <a:srgbClr val="FFFFFF"/>
                    </a:solidFill>
                  </a:tcPr>
                </a:tc>
              </a:tr>
              <a:tr h="457200">
                <a:tc>
                  <a:txBody>
                    <a:bodyPr/>
                    <a:lstStyle/>
                    <a:p>
                      <a:pPr>
                        <a:defRPr sz="1050" b="1">
                          <a:solidFill>
                            <a:srgbClr val="0F1E3C"/>
                          </a:solidFill>
                          <a:latin typeface="Segoe UI"/>
                        </a:defRPr>
                      </a:pPr>
                      <a:r>
                        <a:t>Prediction Time</a:t>
                      </a:r>
                    </a:p>
                  </a:txBody>
                  <a:tcPr anchor="ctr" marT="73152" marB="73152" marL="109728" marR="109728">
                    <a:solidFill>
                      <a:srgbClr val="F1F5FC"/>
                    </a:solidFill>
                  </a:tcPr>
                </a:tc>
                <a:tc>
                  <a:txBody>
                    <a:bodyPr/>
                    <a:lstStyle/>
                    <a:p>
                      <a:pPr>
                        <a:defRPr sz="1050" b="0">
                          <a:solidFill>
                            <a:srgbClr val="1E293B"/>
                          </a:solidFill>
                          <a:latin typeface="Segoe UI"/>
                        </a:defRPr>
                      </a:pPr>
                      <a:r>
                        <a:t>&lt; 50 ms</a:t>
                      </a:r>
                    </a:p>
                  </a:txBody>
                  <a:tcPr anchor="ctr" marT="73152" marB="73152" marL="109728" marR="109728">
                    <a:solidFill>
                      <a:srgbClr val="F1F5FC"/>
                    </a:solidFill>
                  </a:tcPr>
                </a:tc>
              </a:tr>
            </a:tbl>
          </a:graphicData>
        </a:graphic>
      </p:graphicFrame>
      <p:sp>
        <p:nvSpPr>
          <p:cNvPr id="11" name="Rounded Rectangle 10"/>
          <p:cNvSpPr/>
          <p:nvPr/>
        </p:nvSpPr>
        <p:spPr>
          <a:xfrm>
            <a:off x="6949440" y="4754880"/>
            <a:ext cx="4206240" cy="1234440"/>
          </a:xfrm>
          <a:prstGeom prst="roundRect">
            <a:avLst/>
          </a:prstGeom>
          <a:solidFill>
            <a:srgbClr val="F0F9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4846320"/>
            <a:ext cx="3840480" cy="1051560"/>
          </a:xfrm>
          <a:prstGeom prst="rect">
            <a:avLst/>
          </a:prstGeom>
          <a:noFill/>
        </p:spPr>
        <p:txBody>
          <a:bodyPr wrap="square">
            <a:spAutoFit/>
          </a:bodyPr>
          <a:lstStyle/>
          <a:p>
            <a:pPr>
              <a:spcAft>
                <a:spcPts val="300"/>
              </a:spcAft>
              <a:defRPr sz="1100" b="1">
                <a:solidFill>
                  <a:srgbClr val="1D4ED8"/>
                </a:solidFill>
              </a:defRPr>
            </a:pPr>
            <a:r>
              <a:t>★ High Generalization Benchmark</a:t>
            </a:r>
          </a:p>
          <a:p>
            <a:pPr>
              <a:defRPr sz="1000">
                <a:solidFill>
                  <a:srgbClr val="1E293B"/>
                </a:solidFill>
              </a:defRPr>
            </a:pPr>
            <a:r>
              <a:t>Validated on 20% hold-out testing data (292 homes) and reinforced with 5-fold cross validation for robust real-world reliability.</a:t>
            </a:r>
          </a:p>
        </p:txBody>
      </p:sp>
      <p:sp>
        <p:nvSpPr>
          <p:cNvPr id="13" name="Rectangle 12"/>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5" name="TextBox 14"/>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Problem Statement</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03 / 19</a:t>
            </a:r>
          </a:p>
        </p:txBody>
      </p:sp>
      <p:sp>
        <p:nvSpPr>
          <p:cNvPr id="6" name="Rounded Rectangle 5"/>
          <p:cNvSpPr/>
          <p:nvPr/>
        </p:nvSpPr>
        <p:spPr>
          <a:xfrm>
            <a:off x="731520" y="1371600"/>
            <a:ext cx="3383280" cy="31089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017520" cy="2743200"/>
          </a:xfrm>
          <a:prstGeom prst="rect">
            <a:avLst/>
          </a:prstGeom>
          <a:noFill/>
        </p:spPr>
        <p:txBody>
          <a:bodyPr wrap="square">
            <a:spAutoFit/>
          </a:bodyPr>
          <a:lstStyle/>
          <a:p>
            <a:pPr>
              <a:spcAft>
                <a:spcPts val="1000"/>
              </a:spcAft>
              <a:defRPr sz="1500" b="1">
                <a:solidFill>
                  <a:srgbClr val="E11D48"/>
                </a:solidFill>
              </a:defRPr>
            </a:pPr>
            <a:r>
              <a:t>01  Subjective Valuation</a:t>
            </a:r>
          </a:p>
          <a:p>
            <a:pPr>
              <a:defRPr sz="1150">
                <a:solidFill>
                  <a:srgbClr val="1E293B"/>
                </a:solidFill>
              </a:defRPr>
            </a:pPr>
            <a:r>
              <a:t>Manual appraisal depends heavily on the individual inspector's personal judgment, heuristics, and bias. As a result, two independent appraisers frequently produce widely divergent property valuations for the exact same home.</a:t>
            </a:r>
          </a:p>
        </p:txBody>
      </p:sp>
      <p:sp>
        <p:nvSpPr>
          <p:cNvPr id="8" name="Rounded Rectangle 7"/>
          <p:cNvSpPr/>
          <p:nvPr/>
        </p:nvSpPr>
        <p:spPr>
          <a:xfrm>
            <a:off x="4389120" y="1371600"/>
            <a:ext cx="3383280" cy="31089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54480"/>
            <a:ext cx="3017520" cy="2743200"/>
          </a:xfrm>
          <a:prstGeom prst="rect">
            <a:avLst/>
          </a:prstGeom>
          <a:noFill/>
        </p:spPr>
        <p:txBody>
          <a:bodyPr wrap="square">
            <a:spAutoFit/>
          </a:bodyPr>
          <a:lstStyle/>
          <a:p>
            <a:pPr>
              <a:spcAft>
                <a:spcPts val="1000"/>
              </a:spcAft>
              <a:defRPr sz="1500" b="1">
                <a:solidFill>
                  <a:srgbClr val="1D4ED8"/>
                </a:solidFill>
              </a:defRPr>
            </a:pPr>
            <a:r>
              <a:t>02  High-Dimensional Complexity</a:t>
            </a:r>
          </a:p>
          <a:p>
            <a:pPr>
              <a:defRPr sz="1150">
                <a:solidFill>
                  <a:srgbClr val="1E293B"/>
                </a:solidFill>
              </a:defRPr>
            </a:pPr>
            <a:r>
              <a:t>Real estate price depends on 79+ interacting factors such as material finish quality, ground living area, basement dimensions, neighborhood, garage capacity, and year built. Humans cannot mentally compute these complex multi-factor interactions.</a:t>
            </a:r>
          </a:p>
        </p:txBody>
      </p:sp>
      <p:sp>
        <p:nvSpPr>
          <p:cNvPr id="10" name="Rounded Rectangle 9"/>
          <p:cNvSpPr/>
          <p:nvPr/>
        </p:nvSpPr>
        <p:spPr>
          <a:xfrm>
            <a:off x="8046720" y="1371600"/>
            <a:ext cx="3383280" cy="31089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554480"/>
            <a:ext cx="3017520" cy="2743200"/>
          </a:xfrm>
          <a:prstGeom prst="rect">
            <a:avLst/>
          </a:prstGeom>
          <a:noFill/>
        </p:spPr>
        <p:txBody>
          <a:bodyPr wrap="square">
            <a:spAutoFit/>
          </a:bodyPr>
          <a:lstStyle/>
          <a:p>
            <a:pPr>
              <a:spcAft>
                <a:spcPts val="1000"/>
              </a:spcAft>
              <a:defRPr sz="1500" b="1">
                <a:solidFill>
                  <a:srgbClr val="0F1E3C"/>
                </a:solidFill>
              </a:defRPr>
            </a:pPr>
            <a:r>
              <a:t>03  Slow &amp; Costly Appraisals</a:t>
            </a:r>
          </a:p>
          <a:p>
            <a:pPr>
              <a:defRPr sz="1150">
                <a:solidFill>
                  <a:srgbClr val="1E293B"/>
                </a:solidFill>
              </a:defRPr>
            </a:pPr>
            <a:r>
              <a:t>Conventional manual appraisal requires on-site physical inspection, takes 1-2 weeks of turnaround time, and costs $400-$800 per property, creating massive operational bottlenecks for mortgage underwriting and home buyers.</a:t>
            </a:r>
          </a:p>
        </p:txBody>
      </p:sp>
      <p:sp>
        <p:nvSpPr>
          <p:cNvPr id="12" name="Rounded Rectangle 11"/>
          <p:cNvSpPr/>
          <p:nvPr/>
        </p:nvSpPr>
        <p:spPr>
          <a:xfrm>
            <a:off x="731520" y="4663440"/>
            <a:ext cx="10698480" cy="160020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800600"/>
            <a:ext cx="10149840" cy="1280160"/>
          </a:xfrm>
          <a:prstGeom prst="rect">
            <a:avLst/>
          </a:prstGeom>
          <a:noFill/>
        </p:spPr>
        <p:txBody>
          <a:bodyPr wrap="square">
            <a:spAutoFit/>
          </a:bodyPr>
          <a:lstStyle/>
          <a:p>
            <a:pPr>
              <a:spcAft>
                <a:spcPts val="600"/>
              </a:spcAft>
              <a:defRPr sz="1300" b="1">
                <a:solidFill>
                  <a:srgbClr val="059669"/>
                </a:solidFill>
              </a:defRPr>
            </a:pPr>
            <a:r>
              <a:t>PROPOSED SOLUTION: AUTOMATED VALUATION MODEL (AVM) USING MACHINE LEARNING</a:t>
            </a:r>
          </a:p>
          <a:p>
            <a:pPr>
              <a:spcAft>
                <a:spcPts val="400"/>
              </a:spcAft>
            </a:pPr>
            <a:r>
              <a:rPr b="1" sz="1100">
                <a:solidFill>
                  <a:srgbClr val="1D4ED8"/>
                </a:solidFill>
                <a:latin typeface="Segoe UI"/>
              </a:rPr>
              <a:t>• </a:t>
            </a:r>
            <a:r>
              <a:rPr b="1" sz="1100">
                <a:solidFill>
                  <a:srgbClr val="0F1E3C"/>
                </a:solidFill>
                <a:latin typeface="Segoe UI"/>
              </a:rPr>
              <a:t>Deterministic &amp; Objective: </a:t>
            </a:r>
            <a:r>
              <a:rPr b="0" sz="1100">
                <a:solidFill>
                  <a:srgbClr val="1E293B"/>
                </a:solidFill>
                <a:latin typeface="Segoe UI"/>
              </a:rPr>
              <a:t>Eliminates subjective human bias by grounding valuations in empirical mathematical models trained on actual transaction records.</a:t>
            </a:r>
          </a:p>
          <a:p>
            <a:pPr>
              <a:spcAft>
                <a:spcPts val="0"/>
              </a:spcAft>
            </a:pPr>
            <a:r>
              <a:rPr b="1" sz="1100">
                <a:solidFill>
                  <a:srgbClr val="1D4ED8"/>
                </a:solidFill>
                <a:latin typeface="Segoe UI"/>
              </a:rPr>
              <a:t>• </a:t>
            </a:r>
            <a:r>
              <a:rPr b="1" sz="1100">
                <a:solidFill>
                  <a:srgbClr val="0F1E3C"/>
                </a:solidFill>
                <a:latin typeface="Segoe UI"/>
              </a:rPr>
              <a:t>Instantaneous Delivery: </a:t>
            </a:r>
            <a:r>
              <a:rPr b="0" sz="1100">
                <a:solidFill>
                  <a:srgbClr val="1E293B"/>
                </a:solidFill>
                <a:latin typeface="Segoe UI"/>
              </a:rPr>
              <a:t>AVM gives a fair-market price in under 50 milliseconds at negligible computation cost, scaling seamlessly across thousands of property listings.</a:t>
            </a:r>
          </a:p>
        </p:txBody>
      </p:sp>
      <p:sp>
        <p:nvSpPr>
          <p:cNvPr id="14" name="Rectangle 13"/>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6" name="TextBox 15"/>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Objectives</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04 / 19</a:t>
            </a:r>
          </a:p>
        </p:txBody>
      </p:sp>
      <p:sp>
        <p:nvSpPr>
          <p:cNvPr id="6" name="Rounded Rectangle 5"/>
          <p:cNvSpPr/>
          <p:nvPr/>
        </p:nvSpPr>
        <p:spPr>
          <a:xfrm>
            <a:off x="731520" y="141732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017520" cy="1874520"/>
          </a:xfrm>
          <a:prstGeom prst="rect">
            <a:avLst/>
          </a:prstGeom>
          <a:noFill/>
        </p:spPr>
        <p:txBody>
          <a:bodyPr wrap="square">
            <a:spAutoFit/>
          </a:bodyPr>
          <a:lstStyle/>
          <a:p>
            <a:pPr>
              <a:spcAft>
                <a:spcPts val="800"/>
              </a:spcAft>
              <a:defRPr sz="1300" b="1">
                <a:solidFill>
                  <a:srgbClr val="1D4ED8"/>
                </a:solidFill>
              </a:defRPr>
            </a:pPr>
            <a:r>
              <a:t>01 • Data Cleaning &amp; Imputation</a:t>
            </a:r>
          </a:p>
          <a:p>
            <a:pPr>
              <a:defRPr sz="1100">
                <a:solidFill>
                  <a:srgbClr val="1E293B"/>
                </a:solidFill>
              </a:defRPr>
            </a:pPr>
            <a:r>
              <a:t>Clean the Ames housing data using robust strategies: median imputation for numerical features and mode imputation for categorical attributes.</a:t>
            </a:r>
          </a:p>
        </p:txBody>
      </p:sp>
      <p:sp>
        <p:nvSpPr>
          <p:cNvPr id="8" name="Rounded Rectangle 7"/>
          <p:cNvSpPr/>
          <p:nvPr/>
        </p:nvSpPr>
        <p:spPr>
          <a:xfrm>
            <a:off x="4389120" y="141732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3017520" cy="1874520"/>
          </a:xfrm>
          <a:prstGeom prst="rect">
            <a:avLst/>
          </a:prstGeom>
          <a:noFill/>
        </p:spPr>
        <p:txBody>
          <a:bodyPr wrap="square">
            <a:spAutoFit/>
          </a:bodyPr>
          <a:lstStyle/>
          <a:p>
            <a:pPr>
              <a:spcAft>
                <a:spcPts val="800"/>
              </a:spcAft>
              <a:defRPr sz="1300" b="1">
                <a:solidFill>
                  <a:srgbClr val="1D4ED8"/>
                </a:solidFill>
              </a:defRPr>
            </a:pPr>
            <a:r>
              <a:t>02 • Feature Transformation</a:t>
            </a:r>
          </a:p>
          <a:p>
            <a:pPr>
              <a:defRPr sz="1100">
                <a:solidFill>
                  <a:srgbClr val="1E293B"/>
                </a:solidFill>
              </a:defRPr>
            </a:pPr>
            <a:r>
              <a:t>Convert categorical features to numeric representations using One-Hot Encoding, expanding to 244 features with drop_first=True.</a:t>
            </a:r>
          </a:p>
        </p:txBody>
      </p:sp>
      <p:sp>
        <p:nvSpPr>
          <p:cNvPr id="10" name="Rounded Rectangle 9"/>
          <p:cNvSpPr/>
          <p:nvPr/>
        </p:nvSpPr>
        <p:spPr>
          <a:xfrm>
            <a:off x="8046720" y="141732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1874520"/>
          </a:xfrm>
          <a:prstGeom prst="rect">
            <a:avLst/>
          </a:prstGeom>
          <a:noFill/>
        </p:spPr>
        <p:txBody>
          <a:bodyPr wrap="square">
            <a:spAutoFit/>
          </a:bodyPr>
          <a:lstStyle/>
          <a:p>
            <a:pPr>
              <a:spcAft>
                <a:spcPts val="800"/>
              </a:spcAft>
              <a:defRPr sz="1300" b="1">
                <a:solidFill>
                  <a:srgbClr val="1D4ED8"/>
                </a:solidFill>
              </a:defRPr>
            </a:pPr>
            <a:r>
              <a:t>03 • Algorithm Benchmarking</a:t>
            </a:r>
          </a:p>
          <a:p>
            <a:pPr>
              <a:defRPr sz="1100">
                <a:solidFill>
                  <a:srgbClr val="1E293B"/>
                </a:solidFill>
              </a:defRPr>
            </a:pPr>
            <a:r>
              <a:t>Train and rigorously compare three distinct regressors: Linear Regression (OLS), Decision Tree, and Tuned Random Forest.</a:t>
            </a:r>
          </a:p>
        </p:txBody>
      </p:sp>
      <p:sp>
        <p:nvSpPr>
          <p:cNvPr id="12" name="Rounded Rectangle 11"/>
          <p:cNvSpPr/>
          <p:nvPr/>
        </p:nvSpPr>
        <p:spPr>
          <a:xfrm>
            <a:off x="731520" y="388620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3017520" cy="1874520"/>
          </a:xfrm>
          <a:prstGeom prst="rect">
            <a:avLst/>
          </a:prstGeom>
          <a:noFill/>
        </p:spPr>
        <p:txBody>
          <a:bodyPr wrap="square">
            <a:spAutoFit/>
          </a:bodyPr>
          <a:lstStyle/>
          <a:p>
            <a:pPr>
              <a:spcAft>
                <a:spcPts val="800"/>
              </a:spcAft>
              <a:defRPr sz="1300" b="1">
                <a:solidFill>
                  <a:srgbClr val="1D4ED8"/>
                </a:solidFill>
              </a:defRPr>
            </a:pPr>
            <a:r>
              <a:t>04 • Performance Validation</a:t>
            </a:r>
          </a:p>
          <a:p>
            <a:pPr>
              <a:defRPr sz="1100">
                <a:solidFill>
                  <a:srgbClr val="1E293B"/>
                </a:solidFill>
              </a:defRPr>
            </a:pPr>
            <a:r>
              <a:t>Evaluate predictive generalization using MAE, RMSE, R² score, and 5-Fold Cross Validation on unseen hold-out data.</a:t>
            </a:r>
          </a:p>
        </p:txBody>
      </p:sp>
      <p:sp>
        <p:nvSpPr>
          <p:cNvPr id="14" name="Rounded Rectangle 13"/>
          <p:cNvSpPr/>
          <p:nvPr/>
        </p:nvSpPr>
        <p:spPr>
          <a:xfrm>
            <a:off x="4389120" y="388620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069080"/>
            <a:ext cx="3017520" cy="1874520"/>
          </a:xfrm>
          <a:prstGeom prst="rect">
            <a:avLst/>
          </a:prstGeom>
          <a:noFill/>
        </p:spPr>
        <p:txBody>
          <a:bodyPr wrap="square">
            <a:spAutoFit/>
          </a:bodyPr>
          <a:lstStyle/>
          <a:p>
            <a:pPr>
              <a:spcAft>
                <a:spcPts val="800"/>
              </a:spcAft>
              <a:defRPr sz="1300" b="1">
                <a:solidFill>
                  <a:srgbClr val="1D4ED8"/>
                </a:solidFill>
              </a:defRPr>
            </a:pPr>
            <a:r>
              <a:t>05 • Feature Importance Analysis</a:t>
            </a:r>
          </a:p>
          <a:p>
            <a:pPr>
              <a:defRPr sz="1100">
                <a:solidFill>
                  <a:srgbClr val="1E293B"/>
                </a:solidFill>
              </a:defRPr>
            </a:pPr>
            <a:r>
              <a:t>Discover the primary economic valuation drivers using Gini importance metrics to ensure complete explainability.</a:t>
            </a:r>
          </a:p>
        </p:txBody>
      </p:sp>
      <p:sp>
        <p:nvSpPr>
          <p:cNvPr id="16" name="Rounded Rectangle 15"/>
          <p:cNvSpPr/>
          <p:nvPr/>
        </p:nvSpPr>
        <p:spPr>
          <a:xfrm>
            <a:off x="8046720" y="388620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069080"/>
            <a:ext cx="3017520" cy="1874520"/>
          </a:xfrm>
          <a:prstGeom prst="rect">
            <a:avLst/>
          </a:prstGeom>
          <a:noFill/>
        </p:spPr>
        <p:txBody>
          <a:bodyPr wrap="square">
            <a:spAutoFit/>
          </a:bodyPr>
          <a:lstStyle/>
          <a:p>
            <a:pPr>
              <a:spcAft>
                <a:spcPts val="800"/>
              </a:spcAft>
              <a:defRPr sz="1300" b="1">
                <a:solidFill>
                  <a:srgbClr val="1D4ED8"/>
                </a:solidFill>
              </a:defRPr>
            </a:pPr>
            <a:r>
              <a:t>06 • Full-Stack Web Deployment</a:t>
            </a:r>
          </a:p>
          <a:p>
            <a:pPr>
              <a:defRPr sz="1100">
                <a:solidFill>
                  <a:srgbClr val="1E293B"/>
                </a:solidFill>
              </a:defRPr>
            </a:pPr>
            <a:r>
              <a:t>Build and deploy an interactive Streamlit dashboard and a production-ready Flask REST API delivering real-time predictions.</a:t>
            </a:r>
          </a:p>
        </p:txBody>
      </p:sp>
      <p:sp>
        <p:nvSpPr>
          <p:cNvPr id="18" name="Rectangle 17"/>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20" name="TextBox 19"/>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Dataset Used</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05 / 19</a:t>
            </a:r>
          </a:p>
        </p:txBody>
      </p:sp>
      <p:sp>
        <p:nvSpPr>
          <p:cNvPr id="6" name="Rounded Rectangle 5"/>
          <p:cNvSpPr/>
          <p:nvPr/>
        </p:nvSpPr>
        <p:spPr>
          <a:xfrm>
            <a:off x="731520" y="1371600"/>
            <a:ext cx="56692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5120640" cy="4389120"/>
          </a:xfrm>
          <a:prstGeom prst="rect">
            <a:avLst/>
          </a:prstGeom>
          <a:noFill/>
        </p:spPr>
        <p:txBody>
          <a:bodyPr wrap="square">
            <a:spAutoFit/>
          </a:bodyPr>
          <a:lstStyle/>
          <a:p>
            <a:pPr>
              <a:spcAft>
                <a:spcPts val="1400"/>
              </a:spcAft>
              <a:defRPr sz="1500" b="1">
                <a:solidFill>
                  <a:srgbClr val="1D4ED8"/>
                </a:solidFill>
              </a:defRPr>
            </a:pPr>
            <a:r>
              <a:t>Kaggle Ames Housing Benchmark Dataset</a:t>
            </a:r>
          </a:p>
          <a:p>
            <a:pPr>
              <a:spcAft>
                <a:spcPts val="1200"/>
              </a:spcAft>
            </a:pPr>
            <a:r>
              <a:rPr b="1" sz="1200">
                <a:solidFill>
                  <a:srgbClr val="1D4ED8"/>
                </a:solidFill>
                <a:latin typeface="Segoe UI"/>
              </a:rPr>
              <a:t>• </a:t>
            </a:r>
            <a:r>
              <a:rPr b="1" sz="1200">
                <a:solidFill>
                  <a:srgbClr val="0F1E3C"/>
                </a:solidFill>
                <a:latin typeface="Segoe UI"/>
              </a:rPr>
              <a:t>Source &amp; Authority: </a:t>
            </a:r>
            <a:r>
              <a:rPr b="0" sz="1200">
                <a:solidFill>
                  <a:srgbClr val="1E293B"/>
                </a:solidFill>
                <a:latin typeface="Segoe UI"/>
              </a:rPr>
              <a:t>Compiled by Dean De Cock as a modern, high-dimensional academic benchmark for regression research.</a:t>
            </a:r>
          </a:p>
          <a:p>
            <a:pPr>
              <a:spcAft>
                <a:spcPts val="1200"/>
              </a:spcAft>
            </a:pPr>
            <a:r>
              <a:rPr b="1" sz="1200">
                <a:solidFill>
                  <a:srgbClr val="1D4ED8"/>
                </a:solidFill>
                <a:latin typeface="Segoe UI"/>
              </a:rPr>
              <a:t>• </a:t>
            </a:r>
            <a:r>
              <a:rPr b="1" sz="1200">
                <a:solidFill>
                  <a:srgbClr val="0F1E3C"/>
                </a:solidFill>
                <a:latin typeface="Segoe UI"/>
              </a:rPr>
              <a:t>Successor to Boston Housing: </a:t>
            </a:r>
            <a:r>
              <a:rPr b="0" sz="1200">
                <a:solidFill>
                  <a:srgbClr val="1E293B"/>
                </a:solidFill>
                <a:latin typeface="Segoe UI"/>
              </a:rPr>
              <a:t>Serves as the standard machine learning benchmark, replacing the outdated Boston Housing dataset.</a:t>
            </a:r>
          </a:p>
          <a:p>
            <a:pPr>
              <a:spcAft>
                <a:spcPts val="1200"/>
              </a:spcAft>
            </a:pPr>
            <a:r>
              <a:rPr b="1" sz="1200">
                <a:solidFill>
                  <a:srgbClr val="1D4ED8"/>
                </a:solidFill>
                <a:latin typeface="Segoe UI"/>
              </a:rPr>
              <a:t>• </a:t>
            </a:r>
            <a:r>
              <a:rPr b="1" sz="1200">
                <a:solidFill>
                  <a:srgbClr val="0F1E3C"/>
                </a:solidFill>
                <a:latin typeface="Segoe UI"/>
              </a:rPr>
              <a:t>Target Variable: </a:t>
            </a:r>
            <a:r>
              <a:rPr b="0" sz="1200">
                <a:solidFill>
                  <a:srgbClr val="1E293B"/>
                </a:solidFill>
                <a:latin typeface="Segoe UI"/>
              </a:rPr>
              <a:t>SalePrice (continuous US Dollars), representing the nominal transaction sale price of single-family homes.</a:t>
            </a:r>
          </a:p>
          <a:p>
            <a:pPr>
              <a:spcAft>
                <a:spcPts val="1200"/>
              </a:spcAft>
            </a:pPr>
            <a:r>
              <a:rPr b="1" sz="1200">
                <a:solidFill>
                  <a:srgbClr val="1D4ED8"/>
                </a:solidFill>
                <a:latin typeface="Segoe UI"/>
              </a:rPr>
              <a:t>• </a:t>
            </a:r>
            <a:r>
              <a:rPr b="1" sz="1200">
                <a:solidFill>
                  <a:srgbClr val="0F1E3C"/>
                </a:solidFill>
                <a:latin typeface="Segoe UI"/>
              </a:rPr>
              <a:t>Rigorous Split: </a:t>
            </a:r>
            <a:r>
              <a:rPr b="0" sz="1200">
                <a:solidFill>
                  <a:srgbClr val="1E293B"/>
                </a:solidFill>
                <a:latin typeface="Segoe UI"/>
              </a:rPr>
              <a:t>Data is divided into 80% training set (1,168 records) and 20% hold-out testing set (292 records) for empirical evaluation.</a:t>
            </a:r>
          </a:p>
        </p:txBody>
      </p:sp>
      <p:sp>
        <p:nvSpPr>
          <p:cNvPr id="8" name="Rounded Rectangle 7"/>
          <p:cNvSpPr/>
          <p:nvPr/>
        </p:nvSpPr>
        <p:spPr>
          <a:xfrm>
            <a:off x="6675120" y="1371600"/>
            <a:ext cx="47548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645920"/>
            <a:ext cx="4206240" cy="457200"/>
          </a:xfrm>
          <a:prstGeom prst="rect">
            <a:avLst/>
          </a:prstGeom>
          <a:noFill/>
        </p:spPr>
        <p:txBody>
          <a:bodyPr wrap="none">
            <a:spAutoFit/>
          </a:bodyPr>
          <a:lstStyle/>
          <a:p>
            <a:pPr>
              <a:defRPr sz="1500" b="1">
                <a:solidFill>
                  <a:srgbClr val="0F1E3C"/>
                </a:solidFill>
              </a:defRPr>
            </a:pPr>
            <a:r>
              <a:t>Dataset Dimensions &amp; Split</a:t>
            </a:r>
          </a:p>
        </p:txBody>
      </p:sp>
      <p:graphicFrame>
        <p:nvGraphicFramePr>
          <p:cNvPr id="10" name="Table 9"/>
          <p:cNvGraphicFramePr>
            <a:graphicFrameLocks noGrp="1"/>
          </p:cNvGraphicFramePr>
          <p:nvPr/>
        </p:nvGraphicFramePr>
        <p:xfrm>
          <a:off x="6949440" y="2194560"/>
          <a:ext cx="4206240" cy="2743200"/>
        </p:xfrm>
        <a:graphic>
          <a:graphicData uri="http://schemas.openxmlformats.org/drawingml/2006/table">
            <a:tbl>
              <a:tblPr firstRow="1" bandRow="1">
                <a:tableStyleId>{5C22544A-7EE6-4342-B048-85BDC9FD1C3A}</a:tableStyleId>
              </a:tblPr>
              <a:tblGrid>
                <a:gridCol w="2560320"/>
                <a:gridCol w="1645920"/>
              </a:tblGrid>
              <a:tr h="457200">
                <a:tc>
                  <a:txBody>
                    <a:bodyPr/>
                    <a:lstStyle/>
                    <a:p>
                      <a:pPr>
                        <a:defRPr sz="1100" b="1">
                          <a:solidFill>
                            <a:srgbClr val="FFFFFF"/>
                          </a:solidFill>
                          <a:latin typeface="Segoe UI"/>
                        </a:defRPr>
                      </a:pPr>
                      <a:r>
                        <a:t>Property</a:t>
                      </a:r>
                    </a:p>
                  </a:txBody>
                  <a:tcPr anchor="ctr" marT="73152" marB="73152" marL="109728" marR="109728">
                    <a:solidFill>
                      <a:srgbClr val="1E3A8A"/>
                    </a:solidFill>
                  </a:tcPr>
                </a:tc>
                <a:tc>
                  <a:txBody>
                    <a:bodyPr/>
                    <a:lstStyle/>
                    <a:p>
                      <a:pPr>
                        <a:defRPr sz="1100" b="1">
                          <a:solidFill>
                            <a:srgbClr val="FFFFFF"/>
                          </a:solidFill>
                          <a:latin typeface="Segoe UI"/>
                        </a:defRPr>
                      </a:pPr>
                      <a:r>
                        <a:t>Value</a:t>
                      </a:r>
                    </a:p>
                  </a:txBody>
                  <a:tcPr anchor="ctr" marT="73152" marB="73152" marL="109728" marR="109728">
                    <a:solidFill>
                      <a:srgbClr val="1E3A8A"/>
                    </a:solidFill>
                  </a:tcPr>
                </a:tc>
              </a:tr>
              <a:tr h="457200">
                <a:tc>
                  <a:txBody>
                    <a:bodyPr/>
                    <a:lstStyle/>
                    <a:p>
                      <a:pPr>
                        <a:defRPr sz="1050" b="1">
                          <a:solidFill>
                            <a:srgbClr val="0F1E3C"/>
                          </a:solidFill>
                          <a:latin typeface="Segoe UI"/>
                        </a:defRPr>
                      </a:pPr>
                      <a:r>
                        <a:t>Observations</a:t>
                      </a:r>
                    </a:p>
                  </a:txBody>
                  <a:tcPr anchor="ctr" marT="73152" marB="73152" marL="109728" marR="109728">
                    <a:solidFill>
                      <a:srgbClr val="FFFFFF"/>
                    </a:solidFill>
                  </a:tcPr>
                </a:tc>
                <a:tc>
                  <a:txBody>
                    <a:bodyPr/>
                    <a:lstStyle/>
                    <a:p>
                      <a:pPr>
                        <a:defRPr sz="1050" b="0">
                          <a:solidFill>
                            <a:srgbClr val="1E293B"/>
                          </a:solidFill>
                          <a:latin typeface="Segoe UI"/>
                        </a:defRPr>
                      </a:pPr>
                      <a:r>
                        <a:t>1,460 houses</a:t>
                      </a:r>
                    </a:p>
                  </a:txBody>
                  <a:tcPr anchor="ctr" marT="73152" marB="73152" marL="109728" marR="109728">
                    <a:solidFill>
                      <a:srgbClr val="FFFFFF"/>
                    </a:solidFill>
                  </a:tcPr>
                </a:tc>
              </a:tr>
              <a:tr h="457200">
                <a:tc>
                  <a:txBody>
                    <a:bodyPr/>
                    <a:lstStyle/>
                    <a:p>
                      <a:pPr>
                        <a:defRPr sz="1050" b="1">
                          <a:solidFill>
                            <a:srgbClr val="0F1E3C"/>
                          </a:solidFill>
                          <a:latin typeface="Segoe UI"/>
                        </a:defRPr>
                      </a:pPr>
                      <a:r>
                        <a:t>Raw columns</a:t>
                      </a:r>
                    </a:p>
                  </a:txBody>
                  <a:tcPr anchor="ctr" marT="73152" marB="73152" marL="109728" marR="109728">
                    <a:solidFill>
                      <a:srgbClr val="F1F5FC"/>
                    </a:solidFill>
                  </a:tcPr>
                </a:tc>
                <a:tc>
                  <a:txBody>
                    <a:bodyPr/>
                    <a:lstStyle/>
                    <a:p>
                      <a:pPr>
                        <a:defRPr sz="1050" b="0">
                          <a:solidFill>
                            <a:srgbClr val="1E293B"/>
                          </a:solidFill>
                          <a:latin typeface="Segoe UI"/>
                        </a:defRPr>
                      </a:pPr>
                      <a:r>
                        <a:t>81 (38 num, 43 cat)</a:t>
                      </a:r>
                    </a:p>
                  </a:txBody>
                  <a:tcPr anchor="ctr" marT="73152" marB="73152" marL="109728" marR="109728">
                    <a:solidFill>
                      <a:srgbClr val="F1F5FC"/>
                    </a:solidFill>
                  </a:tcPr>
                </a:tc>
              </a:tr>
              <a:tr h="457200">
                <a:tc>
                  <a:txBody>
                    <a:bodyPr/>
                    <a:lstStyle/>
                    <a:p>
                      <a:pPr>
                        <a:defRPr sz="1050" b="1">
                          <a:solidFill>
                            <a:srgbClr val="0F1E3C"/>
                          </a:solidFill>
                          <a:latin typeface="Segoe UI"/>
                        </a:defRPr>
                      </a:pPr>
                      <a:r>
                        <a:t>Training set</a:t>
                      </a:r>
                    </a:p>
                  </a:txBody>
                  <a:tcPr anchor="ctr" marT="73152" marB="73152" marL="109728" marR="109728">
                    <a:solidFill>
                      <a:srgbClr val="FFFFFF"/>
                    </a:solidFill>
                  </a:tcPr>
                </a:tc>
                <a:tc>
                  <a:txBody>
                    <a:bodyPr/>
                    <a:lstStyle/>
                    <a:p>
                      <a:pPr>
                        <a:defRPr sz="1050" b="0">
                          <a:solidFill>
                            <a:srgbClr val="1E293B"/>
                          </a:solidFill>
                          <a:latin typeface="Segoe UI"/>
                        </a:defRPr>
                      </a:pPr>
                      <a:r>
                        <a:t>1,168 (80%)</a:t>
                      </a:r>
                    </a:p>
                  </a:txBody>
                  <a:tcPr anchor="ctr" marT="73152" marB="73152" marL="109728" marR="109728">
                    <a:solidFill>
                      <a:srgbClr val="FFFFFF"/>
                    </a:solidFill>
                  </a:tcPr>
                </a:tc>
              </a:tr>
              <a:tr h="457200">
                <a:tc>
                  <a:txBody>
                    <a:bodyPr/>
                    <a:lstStyle/>
                    <a:p>
                      <a:pPr>
                        <a:defRPr sz="1050" b="1">
                          <a:solidFill>
                            <a:srgbClr val="0F1E3C"/>
                          </a:solidFill>
                          <a:latin typeface="Segoe UI"/>
                        </a:defRPr>
                      </a:pPr>
                      <a:r>
                        <a:t>Testing set</a:t>
                      </a:r>
                    </a:p>
                  </a:txBody>
                  <a:tcPr anchor="ctr" marT="73152" marB="73152" marL="109728" marR="109728">
                    <a:solidFill>
                      <a:srgbClr val="F1F5FC"/>
                    </a:solidFill>
                  </a:tcPr>
                </a:tc>
                <a:tc>
                  <a:txBody>
                    <a:bodyPr/>
                    <a:lstStyle/>
                    <a:p>
                      <a:pPr>
                        <a:defRPr sz="1050" b="0">
                          <a:solidFill>
                            <a:srgbClr val="1E293B"/>
                          </a:solidFill>
                          <a:latin typeface="Segoe UI"/>
                        </a:defRPr>
                      </a:pPr>
                      <a:r>
                        <a:t>292 (20%)</a:t>
                      </a:r>
                    </a:p>
                  </a:txBody>
                  <a:tcPr anchor="ctr" marT="73152" marB="73152" marL="109728" marR="109728">
                    <a:solidFill>
                      <a:srgbClr val="F1F5FC"/>
                    </a:solidFill>
                  </a:tcPr>
                </a:tc>
              </a:tr>
              <a:tr h="457200">
                <a:tc>
                  <a:txBody>
                    <a:bodyPr/>
                    <a:lstStyle/>
                    <a:p>
                      <a:pPr>
                        <a:defRPr sz="1050" b="1">
                          <a:solidFill>
                            <a:srgbClr val="0F1E3C"/>
                          </a:solidFill>
                          <a:latin typeface="Segoe UI"/>
                        </a:defRPr>
                      </a:pPr>
                      <a:r>
                        <a:t>Features after encoding</a:t>
                      </a:r>
                    </a:p>
                  </a:txBody>
                  <a:tcPr anchor="ctr" marT="73152" marB="73152" marL="109728" marR="109728">
                    <a:solidFill>
                      <a:srgbClr val="ECFDF5"/>
                    </a:solidFill>
                  </a:tcPr>
                </a:tc>
                <a:tc>
                  <a:txBody>
                    <a:bodyPr/>
                    <a:lstStyle/>
                    <a:p>
                      <a:pPr>
                        <a:defRPr sz="1050" b="1">
                          <a:solidFill>
                            <a:srgbClr val="059669"/>
                          </a:solidFill>
                          <a:latin typeface="Segoe UI"/>
                        </a:defRPr>
                      </a:pPr>
                      <a:r>
                        <a:t>244</a:t>
                      </a:r>
                    </a:p>
                  </a:txBody>
                  <a:tcPr anchor="ctr" marT="73152" marB="73152" marL="109728" marR="109728">
                    <a:solidFill>
                      <a:srgbClr val="ECFDF5"/>
                    </a:solidFill>
                  </a:tcPr>
                </a:tc>
              </a:tr>
            </a:tbl>
          </a:graphicData>
        </a:graphic>
      </p:graphicFrame>
      <p:sp>
        <p:nvSpPr>
          <p:cNvPr id="11" name="Rounded Rectangle 10"/>
          <p:cNvSpPr/>
          <p:nvPr/>
        </p:nvSpPr>
        <p:spPr>
          <a:xfrm>
            <a:off x="6949440" y="5120640"/>
            <a:ext cx="4206240" cy="960120"/>
          </a:xfrm>
          <a:prstGeom prst="roundRect">
            <a:avLst/>
          </a:prstGeom>
          <a:solidFill>
            <a:srgbClr val="F0F9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5193792"/>
            <a:ext cx="3840480" cy="822960"/>
          </a:xfrm>
          <a:prstGeom prst="rect">
            <a:avLst/>
          </a:prstGeom>
          <a:noFill/>
        </p:spPr>
        <p:txBody>
          <a:bodyPr wrap="none">
            <a:spAutoFit/>
          </a:bodyPr>
          <a:lstStyle/>
          <a:p>
            <a:pPr>
              <a:defRPr sz="950">
                <a:solidFill>
                  <a:srgbClr val="1E293B"/>
                </a:solidFill>
              </a:defRPr>
            </a:pPr>
            <a:r>
              <a:t>ℹ️ Rich Feature Diversity: Covers structural quality, basement SF, lot size, neighborhood location, year built, and garage capacity.</a:t>
            </a:r>
          </a:p>
        </p:txBody>
      </p:sp>
      <p:sp>
        <p:nvSpPr>
          <p:cNvPr id="13" name="Rectangle 12"/>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5" name="TextBox 14"/>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Data Preprocessing</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06 / 19</a:t>
            </a:r>
          </a:p>
        </p:txBody>
      </p:sp>
      <p:sp>
        <p:nvSpPr>
          <p:cNvPr id="6" name="Rounded Rectangle 5"/>
          <p:cNvSpPr/>
          <p:nvPr/>
        </p:nvSpPr>
        <p:spPr>
          <a:xfrm>
            <a:off x="731520" y="1371600"/>
            <a:ext cx="3383280" cy="12801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3017520" cy="1097280"/>
          </a:xfrm>
          <a:prstGeom prst="rect">
            <a:avLst/>
          </a:prstGeom>
          <a:noFill/>
        </p:spPr>
        <p:txBody>
          <a:bodyPr wrap="square">
            <a:spAutoFit/>
          </a:bodyPr>
          <a:lstStyle/>
          <a:p>
            <a:pPr>
              <a:defRPr sz="950" b="1">
                <a:solidFill>
                  <a:srgbClr val="1D4ED8"/>
                </a:solidFill>
              </a:defRPr>
            </a:pPr>
            <a:r>
              <a:t>RAW DATA</a:t>
            </a:r>
          </a:p>
          <a:p>
            <a:pPr>
              <a:defRPr sz="1600" b="1">
                <a:solidFill>
                  <a:srgbClr val="0F1E3C"/>
                </a:solidFill>
              </a:defRPr>
            </a:pPr>
            <a:r>
              <a:t>81 Columns</a:t>
            </a:r>
          </a:p>
          <a:p>
            <a:pPr>
              <a:defRPr sz="950">
                <a:solidFill>
                  <a:srgbClr val="50647D"/>
                </a:solidFill>
              </a:defRPr>
            </a:pPr>
            <a:r>
              <a:t>38 numerical &amp; 43 categorical attributes with missing values.</a:t>
            </a:r>
          </a:p>
        </p:txBody>
      </p:sp>
      <p:sp>
        <p:nvSpPr>
          <p:cNvPr id="8" name="Rounded Rectangle 7"/>
          <p:cNvSpPr/>
          <p:nvPr/>
        </p:nvSpPr>
        <p:spPr>
          <a:xfrm>
            <a:off x="4389120" y="1371600"/>
            <a:ext cx="3383280" cy="12801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63040"/>
            <a:ext cx="3017520" cy="1097280"/>
          </a:xfrm>
          <a:prstGeom prst="rect">
            <a:avLst/>
          </a:prstGeom>
          <a:noFill/>
        </p:spPr>
        <p:txBody>
          <a:bodyPr wrap="square">
            <a:spAutoFit/>
          </a:bodyPr>
          <a:lstStyle/>
          <a:p>
            <a:pPr>
              <a:defRPr sz="950" b="1">
                <a:solidFill>
                  <a:srgbClr val="059669"/>
                </a:solidFill>
              </a:defRPr>
            </a:pPr>
            <a:r>
              <a:t>CLEANED &amp; ENCODED</a:t>
            </a:r>
          </a:p>
          <a:p>
            <a:pPr>
              <a:defRPr sz="1600" b="1">
                <a:solidFill>
                  <a:srgbClr val="0F1E3C"/>
                </a:solidFill>
              </a:defRPr>
            </a:pPr>
            <a:r>
              <a:t>244 Features</a:t>
            </a:r>
          </a:p>
          <a:p>
            <a:pPr>
              <a:defRPr sz="950">
                <a:solidFill>
                  <a:srgbClr val="50647D"/>
                </a:solidFill>
              </a:defRPr>
            </a:pPr>
            <a:r>
              <a:t>Median/mode imputed and one-hot dummy encoded.</a:t>
            </a:r>
          </a:p>
        </p:txBody>
      </p:sp>
      <p:sp>
        <p:nvSpPr>
          <p:cNvPr id="10" name="Rounded Rectangle 9"/>
          <p:cNvSpPr/>
          <p:nvPr/>
        </p:nvSpPr>
        <p:spPr>
          <a:xfrm>
            <a:off x="8046720" y="1371600"/>
            <a:ext cx="3383280" cy="12801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463040"/>
            <a:ext cx="3017520" cy="1097280"/>
          </a:xfrm>
          <a:prstGeom prst="rect">
            <a:avLst/>
          </a:prstGeom>
          <a:noFill/>
        </p:spPr>
        <p:txBody>
          <a:bodyPr wrap="square">
            <a:spAutoFit/>
          </a:bodyPr>
          <a:lstStyle/>
          <a:p>
            <a:pPr>
              <a:defRPr sz="950" b="1">
                <a:solidFill>
                  <a:srgbClr val="0F1E3C"/>
                </a:solidFill>
              </a:defRPr>
            </a:pPr>
            <a:r>
              <a:t>TRAIN / TEST SPLIT</a:t>
            </a:r>
          </a:p>
          <a:p>
            <a:pPr>
              <a:defRPr sz="1600" b="1">
                <a:solidFill>
                  <a:srgbClr val="0F1E3C"/>
                </a:solidFill>
              </a:defRPr>
            </a:pPr>
            <a:r>
              <a:t>80% / 20%</a:t>
            </a:r>
          </a:p>
          <a:p>
            <a:pPr>
              <a:defRPr sz="950">
                <a:solidFill>
                  <a:srgbClr val="50647D"/>
                </a:solidFill>
              </a:defRPr>
            </a:pPr>
            <a:r>
              <a:t>1,168 training records and 292 unseen evaluation records.</a:t>
            </a:r>
          </a:p>
        </p:txBody>
      </p:sp>
      <p:sp>
        <p:nvSpPr>
          <p:cNvPr id="12" name="Rounded Rectangle 11"/>
          <p:cNvSpPr/>
          <p:nvPr/>
        </p:nvSpPr>
        <p:spPr>
          <a:xfrm>
            <a:off x="731520" y="2834640"/>
            <a:ext cx="10698480" cy="342900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17520"/>
            <a:ext cx="10149840" cy="3017520"/>
          </a:xfrm>
          <a:prstGeom prst="rect">
            <a:avLst/>
          </a:prstGeom>
          <a:noFill/>
        </p:spPr>
        <p:txBody>
          <a:bodyPr wrap="square">
            <a:spAutoFit/>
          </a:bodyPr>
          <a:lstStyle/>
          <a:p>
            <a:pPr>
              <a:spcAft>
                <a:spcPts val="1200"/>
              </a:spcAft>
              <a:defRPr sz="1500" b="1">
                <a:solidFill>
                  <a:srgbClr val="1D4ED8"/>
                </a:solidFill>
              </a:defRPr>
            </a:pPr>
            <a:r>
              <a:t>Rigorous Data Preparation Principles</a:t>
            </a:r>
          </a:p>
          <a:p>
            <a:pPr>
              <a:spcAft>
                <a:spcPts val="1100"/>
              </a:spcAft>
            </a:pPr>
            <a:r>
              <a:rPr b="1" sz="1200">
                <a:solidFill>
                  <a:srgbClr val="1D4ED8"/>
                </a:solidFill>
                <a:latin typeface="Segoe UI"/>
              </a:rPr>
              <a:t>• </a:t>
            </a:r>
            <a:r>
              <a:rPr b="1" sz="1200">
                <a:solidFill>
                  <a:srgbClr val="0F1E3C"/>
                </a:solidFill>
                <a:latin typeface="Segoe UI"/>
              </a:rPr>
              <a:t>Missing Values Strategy: </a:t>
            </a:r>
            <a:r>
              <a:rPr b="0" sz="1200">
                <a:solidFill>
                  <a:srgbClr val="1E293B"/>
                </a:solidFill>
                <a:latin typeface="Segoe UI"/>
              </a:rPr>
              <a:t>Numerical columns (e.g., LotFrontage) are imputed using the training median to resist skew. Categorical columns are imputed using the mode or explicit 'None' for absent structures (e.g., No Basement / No Garage).</a:t>
            </a:r>
          </a:p>
          <a:p>
            <a:pPr>
              <a:spcAft>
                <a:spcPts val="1100"/>
              </a:spcAft>
            </a:pPr>
            <a:r>
              <a:rPr b="1" sz="1200">
                <a:solidFill>
                  <a:srgbClr val="1D4ED8"/>
                </a:solidFill>
                <a:latin typeface="Segoe UI"/>
              </a:rPr>
              <a:t>• </a:t>
            </a:r>
            <a:r>
              <a:rPr b="1" sz="1200">
                <a:solidFill>
                  <a:srgbClr val="0F1E3C"/>
                </a:solidFill>
                <a:latin typeface="Segoe UI"/>
              </a:rPr>
              <a:t>One-Hot Encoding: </a:t>
            </a:r>
            <a:r>
              <a:rPr b="0" sz="1200">
                <a:solidFill>
                  <a:srgbClr val="1E293B"/>
                </a:solidFill>
                <a:latin typeface="Segoe UI"/>
              </a:rPr>
              <a:t>Categorical variables are transformed into binary indicator columns. The parameter drop_first=True is enforced to eliminate collinearity and avoid the Dummy Variable Trap in linear algorithms.</a:t>
            </a:r>
          </a:p>
          <a:p>
            <a:pPr>
              <a:spcAft>
                <a:spcPts val="1100"/>
              </a:spcAft>
            </a:pPr>
            <a:r>
              <a:rPr b="1" sz="1200">
                <a:solidFill>
                  <a:srgbClr val="1D4ED8"/>
                </a:solidFill>
                <a:latin typeface="Segoe UI"/>
              </a:rPr>
              <a:t>• </a:t>
            </a:r>
            <a:r>
              <a:rPr b="1" sz="1200">
                <a:solidFill>
                  <a:srgbClr val="0F1E3C"/>
                </a:solidFill>
                <a:latin typeface="Segoe UI"/>
              </a:rPr>
              <a:t>Zero Data Leakage Guarantee: </a:t>
            </a:r>
            <a:r>
              <a:rPr b="0" sz="1200">
                <a:solidFill>
                  <a:srgbClr val="1E293B"/>
                </a:solidFill>
                <a:latin typeface="Segoe UI"/>
              </a:rPr>
              <a:t>All imputers, encodings, and transformation scalers are fitted strictly on the 80% training partition, preventing knowledge leakage from the testing distribution.</a:t>
            </a:r>
          </a:p>
          <a:p>
            <a:pPr>
              <a:spcAft>
                <a:spcPts val="1100"/>
              </a:spcAft>
            </a:pPr>
            <a:r>
              <a:rPr b="1" sz="1200">
                <a:solidFill>
                  <a:srgbClr val="1D4ED8"/>
                </a:solidFill>
                <a:latin typeface="Segoe UI"/>
              </a:rPr>
              <a:t>• </a:t>
            </a:r>
            <a:r>
              <a:rPr b="1" sz="1200">
                <a:solidFill>
                  <a:srgbClr val="0F1E3C"/>
                </a:solidFill>
                <a:latin typeface="Segoe UI"/>
              </a:rPr>
              <a:t>Feature Alignment at Inference: </a:t>
            </a:r>
            <a:r>
              <a:rPr b="0" sz="1200">
                <a:solidFill>
                  <a:srgbClr val="1E293B"/>
                </a:solidFill>
                <a:latin typeface="Segoe UI"/>
              </a:rPr>
              <a:t>User input from the web application is dynamically realigned to match the exact 244-column training schema; unseen categories default cleanly to zero.</a:t>
            </a:r>
          </a:p>
        </p:txBody>
      </p:sp>
      <p:sp>
        <p:nvSpPr>
          <p:cNvPr id="14" name="Rectangle 13"/>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6" name="TextBox 15"/>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Proposed Methodology</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07 / 19</a:t>
            </a:r>
          </a:p>
        </p:txBody>
      </p:sp>
      <p:sp>
        <p:nvSpPr>
          <p:cNvPr id="6" name="Rounded Rectangle 5"/>
          <p:cNvSpPr/>
          <p:nvPr/>
        </p:nvSpPr>
        <p:spPr>
          <a:xfrm>
            <a:off x="731520" y="141732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3017520" cy="1874520"/>
          </a:xfrm>
          <a:prstGeom prst="rect">
            <a:avLst/>
          </a:prstGeom>
          <a:noFill/>
        </p:spPr>
        <p:txBody>
          <a:bodyPr wrap="square">
            <a:spAutoFit/>
          </a:bodyPr>
          <a:lstStyle/>
          <a:p>
            <a:pPr>
              <a:spcAft>
                <a:spcPts val="800"/>
              </a:spcAft>
              <a:defRPr sz="1350" b="1">
                <a:solidFill>
                  <a:srgbClr val="1D4ED8"/>
                </a:solidFill>
              </a:defRPr>
            </a:pPr>
            <a:r>
              <a:t>Step 1 • Data Cleaning</a:t>
            </a:r>
          </a:p>
          <a:p>
            <a:pPr>
              <a:defRPr sz="1100">
                <a:solidFill>
                  <a:srgbClr val="1E293B"/>
                </a:solidFill>
              </a:defRPr>
            </a:pPr>
            <a:r>
              <a:t>Median &amp; mode imputation; saves cleaned_train.csv without data leakage.</a:t>
            </a:r>
          </a:p>
        </p:txBody>
      </p:sp>
      <p:sp>
        <p:nvSpPr>
          <p:cNvPr id="8" name="Rounded Rectangle 7"/>
          <p:cNvSpPr/>
          <p:nvPr/>
        </p:nvSpPr>
        <p:spPr>
          <a:xfrm>
            <a:off x="4389120" y="141732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3017520" cy="1874520"/>
          </a:xfrm>
          <a:prstGeom prst="rect">
            <a:avLst/>
          </a:prstGeom>
          <a:noFill/>
        </p:spPr>
        <p:txBody>
          <a:bodyPr wrap="square">
            <a:spAutoFit/>
          </a:bodyPr>
          <a:lstStyle/>
          <a:p>
            <a:pPr>
              <a:spcAft>
                <a:spcPts val="800"/>
              </a:spcAft>
              <a:defRPr sz="1350" b="1">
                <a:solidFill>
                  <a:srgbClr val="1D4ED8"/>
                </a:solidFill>
              </a:defRPr>
            </a:pPr>
            <a:r>
              <a:t>Step 2 • Encoding and Split</a:t>
            </a:r>
          </a:p>
          <a:p>
            <a:pPr>
              <a:defRPr sz="1100">
                <a:solidFill>
                  <a:srgbClr val="1E293B"/>
                </a:solidFill>
              </a:defRPr>
            </a:pPr>
            <a:r>
              <a:t>One-Hot Encoding expands to 244 features; 80% train (1,168) and 20% test (292).</a:t>
            </a:r>
          </a:p>
        </p:txBody>
      </p:sp>
      <p:sp>
        <p:nvSpPr>
          <p:cNvPr id="10" name="Rounded Rectangle 9"/>
          <p:cNvSpPr/>
          <p:nvPr/>
        </p:nvSpPr>
        <p:spPr>
          <a:xfrm>
            <a:off x="8046720" y="141732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1874520"/>
          </a:xfrm>
          <a:prstGeom prst="rect">
            <a:avLst/>
          </a:prstGeom>
          <a:noFill/>
        </p:spPr>
        <p:txBody>
          <a:bodyPr wrap="square">
            <a:spAutoFit/>
          </a:bodyPr>
          <a:lstStyle/>
          <a:p>
            <a:pPr>
              <a:spcAft>
                <a:spcPts val="800"/>
              </a:spcAft>
              <a:defRPr sz="1350" b="1">
                <a:solidFill>
                  <a:srgbClr val="1D4ED8"/>
                </a:solidFill>
              </a:defRPr>
            </a:pPr>
            <a:r>
              <a:t>Step 3 • Model Training</a:t>
            </a:r>
          </a:p>
          <a:p>
            <a:pPr>
              <a:defRPr sz="1100">
                <a:solidFill>
                  <a:srgbClr val="1E293B"/>
                </a:solidFill>
              </a:defRPr>
            </a:pPr>
            <a:r>
              <a:t>Train Linear Regression, Decision Tree, and Tuned Random Forest (300 estimators).</a:t>
            </a:r>
          </a:p>
        </p:txBody>
      </p:sp>
      <p:sp>
        <p:nvSpPr>
          <p:cNvPr id="12" name="Rounded Rectangle 11"/>
          <p:cNvSpPr/>
          <p:nvPr/>
        </p:nvSpPr>
        <p:spPr>
          <a:xfrm>
            <a:off x="731520" y="388620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3017520" cy="1874520"/>
          </a:xfrm>
          <a:prstGeom prst="rect">
            <a:avLst/>
          </a:prstGeom>
          <a:noFill/>
        </p:spPr>
        <p:txBody>
          <a:bodyPr wrap="square">
            <a:spAutoFit/>
          </a:bodyPr>
          <a:lstStyle/>
          <a:p>
            <a:pPr>
              <a:spcAft>
                <a:spcPts val="800"/>
              </a:spcAft>
              <a:defRPr sz="1350" b="1">
                <a:solidFill>
                  <a:srgbClr val="1D4ED8"/>
                </a:solidFill>
              </a:defRPr>
            </a:pPr>
            <a:r>
              <a:t>Step 4 • Evaluation</a:t>
            </a:r>
          </a:p>
          <a:p>
            <a:pPr>
              <a:defRPr sz="1100">
                <a:solidFill>
                  <a:srgbClr val="1E293B"/>
                </a:solidFill>
              </a:defRPr>
            </a:pPr>
            <a:r>
              <a:t>Evaluate models using MAE, RMSE, R² score, and 5-Fold Cross Validation.</a:t>
            </a:r>
          </a:p>
        </p:txBody>
      </p:sp>
      <p:sp>
        <p:nvSpPr>
          <p:cNvPr id="14" name="Rounded Rectangle 13"/>
          <p:cNvSpPr/>
          <p:nvPr/>
        </p:nvSpPr>
        <p:spPr>
          <a:xfrm>
            <a:off x="4389120" y="388620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069080"/>
            <a:ext cx="3017520" cy="1874520"/>
          </a:xfrm>
          <a:prstGeom prst="rect">
            <a:avLst/>
          </a:prstGeom>
          <a:noFill/>
        </p:spPr>
        <p:txBody>
          <a:bodyPr wrap="square">
            <a:spAutoFit/>
          </a:bodyPr>
          <a:lstStyle/>
          <a:p>
            <a:pPr>
              <a:spcAft>
                <a:spcPts val="800"/>
              </a:spcAft>
              <a:defRPr sz="1350" b="1">
                <a:solidFill>
                  <a:srgbClr val="1D4ED8"/>
                </a:solidFill>
              </a:defRPr>
            </a:pPr>
            <a:r>
              <a:t>Step 5 • Save Model</a:t>
            </a:r>
          </a:p>
          <a:p>
            <a:pPr>
              <a:defRPr sz="1100">
                <a:solidFill>
                  <a:srgbClr val="1E293B"/>
                </a:solidFill>
              </a:defRPr>
            </a:pPr>
            <a:r>
              <a:t>Serialize best Random Forest model as .pkl alongside feature dictionary via Joblib.</a:t>
            </a:r>
          </a:p>
        </p:txBody>
      </p:sp>
      <p:sp>
        <p:nvSpPr>
          <p:cNvPr id="16" name="Rounded Rectangle 15"/>
          <p:cNvSpPr/>
          <p:nvPr/>
        </p:nvSpPr>
        <p:spPr>
          <a:xfrm>
            <a:off x="8046720" y="3886200"/>
            <a:ext cx="33832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069080"/>
            <a:ext cx="3017520" cy="1874520"/>
          </a:xfrm>
          <a:prstGeom prst="rect">
            <a:avLst/>
          </a:prstGeom>
          <a:noFill/>
        </p:spPr>
        <p:txBody>
          <a:bodyPr wrap="square">
            <a:spAutoFit/>
          </a:bodyPr>
          <a:lstStyle/>
          <a:p>
            <a:pPr>
              <a:spcAft>
                <a:spcPts val="800"/>
              </a:spcAft>
              <a:defRPr sz="1350" b="1">
                <a:solidFill>
                  <a:srgbClr val="1D4ED8"/>
                </a:solidFill>
              </a:defRPr>
            </a:pPr>
            <a:r>
              <a:t>Step 6 • Deployment</a:t>
            </a:r>
          </a:p>
          <a:p>
            <a:pPr>
              <a:defRPr sz="1100">
                <a:solidFill>
                  <a:srgbClr val="1E293B"/>
                </a:solidFill>
              </a:defRPr>
            </a:pPr>
            <a:r>
              <a:t>Deploy Streamlit dashboard and Flask REST API for instant, live valuation.</a:t>
            </a:r>
          </a:p>
        </p:txBody>
      </p:sp>
      <p:sp>
        <p:nvSpPr>
          <p:cNvPr id="18" name="Rectangle 17"/>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20" name="TextBox 19"/>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System Architecture and Flowchart</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08 / 19</a:t>
            </a:r>
          </a:p>
        </p:txBody>
      </p:sp>
      <p:sp>
        <p:nvSpPr>
          <p:cNvPr id="6" name="Rounded Rectangle 5"/>
          <p:cNvSpPr/>
          <p:nvPr/>
        </p:nvSpPr>
        <p:spPr>
          <a:xfrm>
            <a:off x="731520" y="1325880"/>
            <a:ext cx="4114800" cy="49377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chart.png"/>
          <p:cNvPicPr>
            <a:picLocks noChangeAspect="1"/>
          </p:cNvPicPr>
          <p:nvPr/>
        </p:nvPicPr>
        <p:blipFill>
          <a:blip r:embed="rId3"/>
          <a:stretch>
            <a:fillRect/>
          </a:stretch>
        </p:blipFill>
        <p:spPr>
          <a:xfrm>
            <a:off x="914400" y="1417320"/>
            <a:ext cx="3749039" cy="4754880"/>
          </a:xfrm>
          <a:prstGeom prst="rect">
            <a:avLst/>
          </a:prstGeom>
        </p:spPr>
      </p:pic>
      <p:sp>
        <p:nvSpPr>
          <p:cNvPr id="8" name="Rounded Rectangle 7"/>
          <p:cNvSpPr/>
          <p:nvPr/>
        </p:nvSpPr>
        <p:spPr>
          <a:xfrm>
            <a:off x="5029200" y="1325880"/>
            <a:ext cx="6400800" cy="493776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1554480"/>
            <a:ext cx="5852160" cy="4480560"/>
          </a:xfrm>
          <a:prstGeom prst="rect">
            <a:avLst/>
          </a:prstGeom>
          <a:noFill/>
        </p:spPr>
        <p:txBody>
          <a:bodyPr wrap="square">
            <a:spAutoFit/>
          </a:bodyPr>
          <a:lstStyle/>
          <a:p>
            <a:pPr>
              <a:spcAft>
                <a:spcPts val="1400"/>
              </a:spcAft>
              <a:defRPr sz="1500" b="1">
                <a:solidFill>
                  <a:srgbClr val="1D4ED8"/>
                </a:solidFill>
              </a:defRPr>
            </a:pPr>
            <a:r>
              <a:t>Pipeline Execution Lifecycle</a:t>
            </a:r>
          </a:p>
          <a:p>
            <a:pPr>
              <a:spcAft>
                <a:spcPts val="1200"/>
              </a:spcAft>
            </a:pPr>
            <a:r>
              <a:rPr b="1" sz="1200">
                <a:solidFill>
                  <a:srgbClr val="1D4ED8"/>
                </a:solidFill>
                <a:latin typeface="Segoe UI"/>
              </a:rPr>
              <a:t>• </a:t>
            </a:r>
            <a:r>
              <a:rPr b="1" sz="1200">
                <a:solidFill>
                  <a:srgbClr val="0F1E3C"/>
                </a:solidFill>
                <a:latin typeface="Segoe UI"/>
              </a:rPr>
              <a:t>Web Interface Launch: </a:t>
            </a:r>
            <a:r>
              <a:rPr b="0" sz="1200">
                <a:solidFill>
                  <a:srgbClr val="1E293B"/>
                </a:solidFill>
                <a:latin typeface="Segoe UI"/>
              </a:rPr>
              <a:t>User opens the Streamlit interactive dashboard or sends a JSON request to the Flask REST API.</a:t>
            </a:r>
          </a:p>
          <a:p>
            <a:pPr>
              <a:spcAft>
                <a:spcPts val="1200"/>
              </a:spcAft>
            </a:pPr>
            <a:r>
              <a:rPr b="1" sz="1200">
                <a:solidFill>
                  <a:srgbClr val="1D4ED8"/>
                </a:solidFill>
                <a:latin typeface="Segoe UI"/>
              </a:rPr>
              <a:t>• </a:t>
            </a:r>
            <a:r>
              <a:rPr b="1" sz="1200">
                <a:solidFill>
                  <a:srgbClr val="0F1E3C"/>
                </a:solidFill>
                <a:latin typeface="Segoe UI"/>
              </a:rPr>
              <a:t>Feature Specification: </a:t>
            </a:r>
            <a:r>
              <a:rPr b="0" sz="1200">
                <a:solidFill>
                  <a:srgbClr val="1E293B"/>
                </a:solidFill>
                <a:latin typeface="Segoe UI"/>
              </a:rPr>
              <a:t>User enters physical and spatial house details (ground living area, bedrooms, quality, neighborhood, garage, etc.).</a:t>
            </a:r>
          </a:p>
          <a:p>
            <a:pPr>
              <a:spcAft>
                <a:spcPts val="1200"/>
              </a:spcAft>
            </a:pPr>
            <a:r>
              <a:rPr b="1" sz="1200">
                <a:solidFill>
                  <a:srgbClr val="1D4ED8"/>
                </a:solidFill>
                <a:latin typeface="Segoe UI"/>
              </a:rPr>
              <a:t>• </a:t>
            </a:r>
            <a:r>
              <a:rPr b="1" sz="1200">
                <a:solidFill>
                  <a:srgbClr val="0F1E3C"/>
                </a:solidFill>
                <a:latin typeface="Segoe UI"/>
              </a:rPr>
              <a:t>Input Validation: </a:t>
            </a:r>
            <a:r>
              <a:rPr b="0" sz="1200">
                <a:solidFill>
                  <a:srgbClr val="1E293B"/>
                </a:solidFill>
                <a:latin typeface="Segoe UI"/>
              </a:rPr>
              <a:t>Inputs are validated for positive physical bounds; errors are flagged immediately if values are out of range.</a:t>
            </a:r>
          </a:p>
          <a:p>
            <a:pPr>
              <a:spcAft>
                <a:spcPts val="1200"/>
              </a:spcAft>
            </a:pPr>
            <a:r>
              <a:rPr b="1" sz="1200">
                <a:solidFill>
                  <a:srgbClr val="1D4ED8"/>
                </a:solidFill>
                <a:latin typeface="Segoe UI"/>
              </a:rPr>
              <a:t>• </a:t>
            </a:r>
            <a:r>
              <a:rPr b="1" sz="1200">
                <a:solidFill>
                  <a:srgbClr val="0F1E3C"/>
                </a:solidFill>
                <a:latin typeface="Segoe UI"/>
              </a:rPr>
              <a:t>Preprocessing &amp; One-Hot Alignment: </a:t>
            </a:r>
            <a:r>
              <a:rPr b="0" sz="1200">
                <a:solidFill>
                  <a:srgbClr val="1E293B"/>
                </a:solidFill>
                <a:latin typeface="Segoe UI"/>
              </a:rPr>
              <a:t>Raw input is mapped and transformed to match the 244-dimensional training schema.</a:t>
            </a:r>
          </a:p>
          <a:p>
            <a:pPr>
              <a:spcAft>
                <a:spcPts val="1200"/>
              </a:spcAft>
            </a:pPr>
            <a:r>
              <a:rPr b="1" sz="1200">
                <a:solidFill>
                  <a:srgbClr val="1D4ED8"/>
                </a:solidFill>
                <a:latin typeface="Segoe UI"/>
              </a:rPr>
              <a:t>• </a:t>
            </a:r>
            <a:r>
              <a:rPr b="1" sz="1200">
                <a:solidFill>
                  <a:srgbClr val="0F1E3C"/>
                </a:solidFill>
                <a:latin typeface="Segoe UI"/>
              </a:rPr>
              <a:t>Ensemble Inference Execution: </a:t>
            </a:r>
            <a:r>
              <a:rPr b="0" sz="1200">
                <a:solidFill>
                  <a:srgbClr val="1E293B"/>
                </a:solidFill>
                <a:latin typeface="Segoe UI"/>
              </a:rPr>
              <a:t>The pre-trained 300-tree Random Forest Regressor evaluates the feature vector in under 50 ms.</a:t>
            </a:r>
          </a:p>
          <a:p>
            <a:pPr>
              <a:spcAft>
                <a:spcPts val="1200"/>
              </a:spcAft>
            </a:pPr>
            <a:r>
              <a:rPr b="1" sz="1200">
                <a:solidFill>
                  <a:srgbClr val="1D4ED8"/>
                </a:solidFill>
                <a:latin typeface="Segoe UI"/>
              </a:rPr>
              <a:t>• </a:t>
            </a:r>
            <a:r>
              <a:rPr b="1" sz="1200">
                <a:solidFill>
                  <a:srgbClr val="0F1E3C"/>
                </a:solidFill>
                <a:latin typeface="Segoe UI"/>
              </a:rPr>
              <a:t>Valuation Output &amp; Metrics: </a:t>
            </a:r>
            <a:r>
              <a:rPr b="0" sz="1200">
                <a:solidFill>
                  <a:srgbClr val="1E293B"/>
                </a:solidFill>
                <a:latin typeface="Segoe UI"/>
              </a:rPr>
              <a:t>Displays estimated fair-market property price, empirical confidence interval, and derived metrics (Price/Sq Ft, Ratios).</a:t>
            </a:r>
          </a:p>
        </p:txBody>
      </p:sp>
      <p:sp>
        <p:nvSpPr>
          <p:cNvPr id="10" name="Rectangle 9"/>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2" name="TextBox 11"/>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Machine Learning Algorithms Used</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09 / 19</a:t>
            </a:r>
          </a:p>
        </p:txBody>
      </p:sp>
      <p:graphicFrame>
        <p:nvGraphicFramePr>
          <p:cNvPr id="6" name="Table 5"/>
          <p:cNvGraphicFramePr>
            <a:graphicFrameLocks noGrp="1"/>
          </p:cNvGraphicFramePr>
          <p:nvPr/>
        </p:nvGraphicFramePr>
        <p:xfrm>
          <a:off x="731520" y="1371600"/>
          <a:ext cx="10698480" cy="3840480"/>
        </p:xfrm>
        <a:graphic>
          <a:graphicData uri="http://schemas.openxmlformats.org/drawingml/2006/table">
            <a:tbl>
              <a:tblPr firstRow="1" bandRow="1">
                <a:tableStyleId>{5C22544A-7EE6-4342-B048-85BDC9FD1C3A}</a:tableStyleId>
              </a:tblPr>
              <a:tblGrid>
                <a:gridCol w="2286000"/>
                <a:gridCol w="4572000"/>
                <a:gridCol w="3840480"/>
              </a:tblGrid>
              <a:tr h="960120">
                <a:tc>
                  <a:txBody>
                    <a:bodyPr/>
                    <a:lstStyle/>
                    <a:p>
                      <a:pPr>
                        <a:defRPr sz="1100" b="1">
                          <a:solidFill>
                            <a:srgbClr val="FFFFFF"/>
                          </a:solidFill>
                          <a:latin typeface="Segoe UI"/>
                        </a:defRPr>
                      </a:pPr>
                      <a:r>
                        <a:t>Model</a:t>
                      </a:r>
                    </a:p>
                  </a:txBody>
                  <a:tcPr anchor="ctr" marT="73152" marB="73152" marL="109728" marR="109728">
                    <a:solidFill>
                      <a:srgbClr val="1E3A8A"/>
                    </a:solidFill>
                  </a:tcPr>
                </a:tc>
                <a:tc>
                  <a:txBody>
                    <a:bodyPr/>
                    <a:lstStyle/>
                    <a:p>
                      <a:pPr>
                        <a:defRPr sz="1100" b="1">
                          <a:solidFill>
                            <a:srgbClr val="FFFFFF"/>
                          </a:solidFill>
                          <a:latin typeface="Segoe UI"/>
                        </a:defRPr>
                      </a:pPr>
                      <a:r>
                        <a:t>How it works</a:t>
                      </a:r>
                    </a:p>
                  </a:txBody>
                  <a:tcPr anchor="ctr" marT="73152" marB="73152" marL="109728" marR="109728">
                    <a:solidFill>
                      <a:srgbClr val="1E3A8A"/>
                    </a:solidFill>
                  </a:tcPr>
                </a:tc>
                <a:tc>
                  <a:txBody>
                    <a:bodyPr/>
                    <a:lstStyle/>
                    <a:p>
                      <a:pPr>
                        <a:defRPr sz="1100" b="1">
                          <a:solidFill>
                            <a:srgbClr val="FFFFFF"/>
                          </a:solidFill>
                          <a:latin typeface="Segoe UI"/>
                        </a:defRPr>
                      </a:pPr>
                      <a:r>
                        <a:t>Formula</a:t>
                      </a:r>
                    </a:p>
                  </a:txBody>
                  <a:tcPr anchor="ctr" marT="73152" marB="73152" marL="109728" marR="109728">
                    <a:solidFill>
                      <a:srgbClr val="1E3A8A"/>
                    </a:solidFill>
                  </a:tcPr>
                </a:tc>
              </a:tr>
              <a:tr h="960120">
                <a:tc>
                  <a:txBody>
                    <a:bodyPr/>
                    <a:lstStyle/>
                    <a:p>
                      <a:pPr>
                        <a:defRPr sz="1050" b="1">
                          <a:solidFill>
                            <a:srgbClr val="0F1E3C"/>
                          </a:solidFill>
                          <a:latin typeface="Segoe UI"/>
                        </a:defRPr>
                      </a:pPr>
                      <a:r>
                        <a:t>Linear Regression (OLS)</a:t>
                      </a:r>
                    </a:p>
                  </a:txBody>
                  <a:tcPr anchor="ctr" marT="73152" marB="73152" marL="109728" marR="109728">
                    <a:solidFill>
                      <a:srgbClr val="FFFFFF"/>
                    </a:solidFill>
                  </a:tcPr>
                </a:tc>
                <a:tc>
                  <a:txBody>
                    <a:bodyPr/>
                    <a:lstStyle/>
                    <a:p>
                      <a:pPr>
                        <a:defRPr sz="1050" b="0">
                          <a:solidFill>
                            <a:srgbClr val="1E293B"/>
                          </a:solidFill>
                          <a:latin typeface="Segoe UI"/>
                        </a:defRPr>
                      </a:pPr>
                      <a:r>
                        <a:t>Assumes a linear relationship between input attributes and sale price; simple and interpretable but misses complex non-linear curves.</a:t>
                      </a:r>
                    </a:p>
                  </a:txBody>
                  <a:tcPr anchor="ctr" marT="73152" marB="73152" marL="109728" marR="109728">
                    <a:solidFill>
                      <a:srgbClr val="FFFFFF"/>
                    </a:solidFill>
                  </a:tcPr>
                </a:tc>
                <a:tc>
                  <a:txBody>
                    <a:bodyPr/>
                    <a:lstStyle/>
                    <a:p>
                      <a:pPr>
                        <a:defRPr sz="1050" b="0">
                          <a:solidFill>
                            <a:srgbClr val="1E293B"/>
                          </a:solidFill>
                          <a:latin typeface="Segoe UI"/>
                        </a:defRPr>
                      </a:pPr>
                      <a:r>
                        <a:t>y_i = β₀ + Σ (βⱼ · x_ij) + ε_i</a:t>
                      </a:r>
                    </a:p>
                  </a:txBody>
                  <a:tcPr anchor="ctr" marT="73152" marB="73152" marL="109728" marR="109728">
                    <a:solidFill>
                      <a:srgbClr val="FFFFFF"/>
                    </a:solidFill>
                  </a:tcPr>
                </a:tc>
              </a:tr>
              <a:tr h="960120">
                <a:tc>
                  <a:txBody>
                    <a:bodyPr/>
                    <a:lstStyle/>
                    <a:p>
                      <a:pPr>
                        <a:defRPr sz="1050" b="1">
                          <a:solidFill>
                            <a:srgbClr val="0F1E3C"/>
                          </a:solidFill>
                          <a:latin typeface="Segoe UI"/>
                        </a:defRPr>
                      </a:pPr>
                      <a:r>
                        <a:t>Decision Tree</a:t>
                      </a:r>
                    </a:p>
                  </a:txBody>
                  <a:tcPr anchor="ctr" marT="73152" marB="73152" marL="109728" marR="109728">
                    <a:solidFill>
                      <a:srgbClr val="F1F5FC"/>
                    </a:solidFill>
                  </a:tcPr>
                </a:tc>
                <a:tc>
                  <a:txBody>
                    <a:bodyPr/>
                    <a:lstStyle/>
                    <a:p>
                      <a:pPr>
                        <a:defRPr sz="1050" b="0">
                          <a:solidFill>
                            <a:srgbClr val="1E293B"/>
                          </a:solidFill>
                          <a:latin typeface="Segoe UI"/>
                        </a:defRPr>
                      </a:pPr>
                      <a:r>
                        <a:t>Recursively splits feature space into rectangular regions using binary decision rules; captures non-linear interactions but prone to overfitting.</a:t>
                      </a:r>
                    </a:p>
                  </a:txBody>
                  <a:tcPr anchor="ctr" marT="73152" marB="73152" marL="109728" marR="109728">
                    <a:solidFill>
                      <a:srgbClr val="F1F5FC"/>
                    </a:solidFill>
                  </a:tcPr>
                </a:tc>
                <a:tc>
                  <a:txBody>
                    <a:bodyPr/>
                    <a:lstStyle/>
                    <a:p>
                      <a:pPr>
                        <a:defRPr sz="1050" b="0">
                          <a:solidFill>
                            <a:srgbClr val="1E293B"/>
                          </a:solidFill>
                          <a:latin typeface="Segoe UI"/>
                        </a:defRPr>
                      </a:pPr>
                      <a:r>
                        <a:t>f(x) = Σ c_m · I(x ∈ R_m)</a:t>
                      </a:r>
                    </a:p>
                  </a:txBody>
                  <a:tcPr anchor="ctr" marT="73152" marB="73152" marL="109728" marR="109728">
                    <a:solidFill>
                      <a:srgbClr val="F1F5FC"/>
                    </a:solidFill>
                  </a:tcPr>
                </a:tc>
              </a:tr>
              <a:tr h="960120">
                <a:tc>
                  <a:txBody>
                    <a:bodyPr/>
                    <a:lstStyle/>
                    <a:p>
                      <a:pPr>
                        <a:defRPr sz="1050" b="1">
                          <a:solidFill>
                            <a:srgbClr val="0F1E3C"/>
                          </a:solidFill>
                          <a:latin typeface="Segoe UI"/>
                        </a:defRPr>
                      </a:pPr>
                      <a:r>
                        <a:t>Tuned Random Forest</a:t>
                      </a:r>
                    </a:p>
                  </a:txBody>
                  <a:tcPr anchor="ctr" marT="73152" marB="73152" marL="109728" marR="109728">
                    <a:solidFill>
                      <a:srgbClr val="ECFDF5"/>
                    </a:solidFill>
                  </a:tcPr>
                </a:tc>
                <a:tc>
                  <a:txBody>
                    <a:bodyPr/>
                    <a:lstStyle/>
                    <a:p>
                      <a:pPr>
                        <a:defRPr sz="1050" b="1">
                          <a:solidFill>
                            <a:srgbClr val="1E293B"/>
                          </a:solidFill>
                          <a:latin typeface="Segoe UI"/>
                        </a:defRPr>
                      </a:pPr>
                      <a:r>
                        <a:t>Averages predictions of 300 decorrelated decision trees (bagging) using random feature sub-sampling; drastically reduces variance and error.</a:t>
                      </a:r>
                    </a:p>
                  </a:txBody>
                  <a:tcPr anchor="ctr" marT="73152" marB="73152" marL="109728" marR="109728">
                    <a:solidFill>
                      <a:srgbClr val="ECFDF5"/>
                    </a:solidFill>
                  </a:tcPr>
                </a:tc>
                <a:tc>
                  <a:txBody>
                    <a:bodyPr/>
                    <a:lstStyle/>
                    <a:p>
                      <a:pPr>
                        <a:defRPr sz="1050" b="1">
                          <a:solidFill>
                            <a:srgbClr val="059669"/>
                          </a:solidFill>
                          <a:latin typeface="Segoe UI"/>
                        </a:defRPr>
                      </a:pPr>
                      <a:r>
                        <a:t>ŷ_RF = (1 / B) Σ T_b(x; Θ_b)</a:t>
                      </a:r>
                    </a:p>
                  </a:txBody>
                  <a:tcPr anchor="ctr" marT="73152" marB="73152" marL="109728" marR="109728">
                    <a:solidFill>
                      <a:srgbClr val="ECFDF5"/>
                    </a:solidFill>
                  </a:tcPr>
                </a:tc>
              </a:tr>
            </a:tbl>
          </a:graphicData>
        </a:graphic>
      </p:graphicFrame>
      <p:sp>
        <p:nvSpPr>
          <p:cNvPr id="7" name="Rounded Rectangle 6"/>
          <p:cNvSpPr/>
          <p:nvPr/>
        </p:nvSpPr>
        <p:spPr>
          <a:xfrm>
            <a:off x="731520" y="5394960"/>
            <a:ext cx="10698480" cy="868680"/>
          </a:xfrm>
          <a:prstGeom prst="roundRect">
            <a:avLst/>
          </a:prstGeom>
          <a:solidFill>
            <a:srgbClr val="F0F9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468112"/>
            <a:ext cx="10149840" cy="685800"/>
          </a:xfrm>
          <a:prstGeom prst="rect">
            <a:avLst/>
          </a:prstGeom>
          <a:noFill/>
        </p:spPr>
        <p:txBody>
          <a:bodyPr wrap="none">
            <a:spAutoFit/>
          </a:bodyPr>
          <a:lstStyle/>
          <a:p>
            <a:pPr>
              <a:defRPr sz="1100" b="1">
                <a:solidFill>
                  <a:srgbClr val="0F1E3C"/>
                </a:solidFill>
              </a:defRPr>
            </a:pPr>
            <a:r>
              <a:t>Mathematical Note: OLS minimizes RSS = Σ (y_i − ŷ_i)²;  c_m is the mean response in region R_m;  B = 300 trees in the Random Forest ensemble.</a:t>
            </a:r>
          </a:p>
        </p:txBody>
      </p:sp>
      <p:sp>
        <p:nvSpPr>
          <p:cNvPr id="9" name="Rectangle 8"/>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1" name="TextBox 10"/>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Evaluation Metrics</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10 / 19</a:t>
            </a:r>
          </a:p>
        </p:txBody>
      </p:sp>
      <p:graphicFrame>
        <p:nvGraphicFramePr>
          <p:cNvPr id="6" name="Table 5"/>
          <p:cNvGraphicFramePr>
            <a:graphicFrameLocks noGrp="1"/>
          </p:cNvGraphicFramePr>
          <p:nvPr/>
        </p:nvGraphicFramePr>
        <p:xfrm>
          <a:off x="731520" y="1371600"/>
          <a:ext cx="10698480" cy="3474720"/>
        </p:xfrm>
        <a:graphic>
          <a:graphicData uri="http://schemas.openxmlformats.org/drawingml/2006/table">
            <a:tbl>
              <a:tblPr firstRow="1" bandRow="1">
                <a:tableStyleId>{5C22544A-7EE6-4342-B048-85BDC9FD1C3A}</a:tableStyleId>
              </a:tblPr>
              <a:tblGrid>
                <a:gridCol w="1645920"/>
                <a:gridCol w="3657600"/>
                <a:gridCol w="3200400"/>
                <a:gridCol w="2194560"/>
              </a:tblGrid>
              <a:tr h="868680">
                <a:tc>
                  <a:txBody>
                    <a:bodyPr/>
                    <a:lstStyle/>
                    <a:p>
                      <a:pPr>
                        <a:defRPr sz="1100" b="1">
                          <a:solidFill>
                            <a:srgbClr val="FFFFFF"/>
                          </a:solidFill>
                          <a:latin typeface="Segoe UI"/>
                        </a:defRPr>
                      </a:pPr>
                      <a:r>
                        <a:t>Metric</a:t>
                      </a:r>
                    </a:p>
                  </a:txBody>
                  <a:tcPr anchor="ctr" marT="73152" marB="73152" marL="109728" marR="109728">
                    <a:solidFill>
                      <a:srgbClr val="1E3A8A"/>
                    </a:solidFill>
                  </a:tcPr>
                </a:tc>
                <a:tc>
                  <a:txBody>
                    <a:bodyPr/>
                    <a:lstStyle/>
                    <a:p>
                      <a:pPr>
                        <a:defRPr sz="1100" b="1">
                          <a:solidFill>
                            <a:srgbClr val="FFFFFF"/>
                          </a:solidFill>
                          <a:latin typeface="Segoe UI"/>
                        </a:defRPr>
                      </a:pPr>
                      <a:r>
                        <a:t>Formula</a:t>
                      </a:r>
                    </a:p>
                  </a:txBody>
                  <a:tcPr anchor="ctr" marT="73152" marB="73152" marL="109728" marR="109728">
                    <a:solidFill>
                      <a:srgbClr val="1E3A8A"/>
                    </a:solidFill>
                  </a:tcPr>
                </a:tc>
                <a:tc>
                  <a:txBody>
                    <a:bodyPr/>
                    <a:lstStyle/>
                    <a:p>
                      <a:pPr>
                        <a:defRPr sz="1100" b="1">
                          <a:solidFill>
                            <a:srgbClr val="FFFFFF"/>
                          </a:solidFill>
                          <a:latin typeface="Segoe UI"/>
                        </a:defRPr>
                      </a:pPr>
                      <a:r>
                        <a:t>Meaning</a:t>
                      </a:r>
                    </a:p>
                  </a:txBody>
                  <a:tcPr anchor="ctr" marT="73152" marB="73152" marL="109728" marR="109728">
                    <a:solidFill>
                      <a:srgbClr val="1E3A8A"/>
                    </a:solidFill>
                  </a:tcPr>
                </a:tc>
                <a:tc>
                  <a:txBody>
                    <a:bodyPr/>
                    <a:lstStyle/>
                    <a:p>
                      <a:pPr>
                        <a:defRPr sz="1100" b="1">
                          <a:solidFill>
                            <a:srgbClr val="FFFFFF"/>
                          </a:solidFill>
                          <a:latin typeface="Segoe UI"/>
                        </a:defRPr>
                      </a:pPr>
                      <a:r>
                        <a:t>Our Result</a:t>
                      </a:r>
                    </a:p>
                  </a:txBody>
                  <a:tcPr anchor="ctr" marT="73152" marB="73152" marL="109728" marR="109728">
                    <a:solidFill>
                      <a:srgbClr val="1E3A8A"/>
                    </a:solidFill>
                  </a:tcPr>
                </a:tc>
              </a:tr>
              <a:tr h="868680">
                <a:tc>
                  <a:txBody>
                    <a:bodyPr/>
                    <a:lstStyle/>
                    <a:p>
                      <a:pPr>
                        <a:defRPr sz="1050" b="1">
                          <a:solidFill>
                            <a:srgbClr val="0F1E3C"/>
                          </a:solidFill>
                          <a:latin typeface="Segoe UI"/>
                        </a:defRPr>
                      </a:pPr>
                      <a:r>
                        <a:t>MAE</a:t>
                      </a:r>
                    </a:p>
                  </a:txBody>
                  <a:tcPr anchor="ctr" marT="73152" marB="73152" marL="109728" marR="109728">
                    <a:solidFill>
                      <a:srgbClr val="FFFFFF"/>
                    </a:solidFill>
                  </a:tcPr>
                </a:tc>
                <a:tc>
                  <a:txBody>
                    <a:bodyPr/>
                    <a:lstStyle/>
                    <a:p>
                      <a:pPr>
                        <a:defRPr sz="1050" b="0">
                          <a:solidFill>
                            <a:srgbClr val="1E293B"/>
                          </a:solidFill>
                          <a:latin typeface="Segoe UI"/>
                        </a:defRPr>
                      </a:pPr>
                      <a:r>
                        <a:t>MAE = (1 / n) Σ | y_i − ŷ_i |</a:t>
                      </a:r>
                    </a:p>
                  </a:txBody>
                  <a:tcPr anchor="ctr" marT="73152" marB="73152" marL="109728" marR="109728">
                    <a:solidFill>
                      <a:srgbClr val="FFFFFF"/>
                    </a:solidFill>
                  </a:tcPr>
                </a:tc>
                <a:tc>
                  <a:txBody>
                    <a:bodyPr/>
                    <a:lstStyle/>
                    <a:p>
                      <a:pPr>
                        <a:defRPr sz="1050" b="0">
                          <a:solidFill>
                            <a:srgbClr val="1E293B"/>
                          </a:solidFill>
                          <a:latin typeface="Segoe UI"/>
                        </a:defRPr>
                      </a:pPr>
                      <a:r>
                        <a:t>Average dollar magnitude of error</a:t>
                      </a:r>
                    </a:p>
                  </a:txBody>
                  <a:tcPr anchor="ctr" marT="73152" marB="73152" marL="109728" marR="109728">
                    <a:solidFill>
                      <a:srgbClr val="FFFFFF"/>
                    </a:solidFill>
                  </a:tcPr>
                </a:tc>
                <a:tc>
                  <a:txBody>
                    <a:bodyPr/>
                    <a:lstStyle/>
                    <a:p>
                      <a:pPr>
                        <a:defRPr sz="1050" b="0">
                          <a:solidFill>
                            <a:srgbClr val="1E293B"/>
                          </a:solidFill>
                          <a:latin typeface="Segoe UI"/>
                        </a:defRPr>
                      </a:pPr>
                      <a:r>
                        <a:t>$17,676.40</a:t>
                      </a:r>
                    </a:p>
                  </a:txBody>
                  <a:tcPr anchor="ctr" marT="73152" marB="73152" marL="109728" marR="109728">
                    <a:solidFill>
                      <a:srgbClr val="FFFFFF"/>
                    </a:solidFill>
                  </a:tcPr>
                </a:tc>
              </a:tr>
              <a:tr h="868680">
                <a:tc>
                  <a:txBody>
                    <a:bodyPr/>
                    <a:lstStyle/>
                    <a:p>
                      <a:pPr>
                        <a:defRPr sz="1050" b="1">
                          <a:solidFill>
                            <a:srgbClr val="0F1E3C"/>
                          </a:solidFill>
                          <a:latin typeface="Segoe UI"/>
                        </a:defRPr>
                      </a:pPr>
                      <a:r>
                        <a:t>RMSE</a:t>
                      </a:r>
                    </a:p>
                  </a:txBody>
                  <a:tcPr anchor="ctr" marT="73152" marB="73152" marL="109728" marR="109728">
                    <a:solidFill>
                      <a:srgbClr val="F1F5FC"/>
                    </a:solidFill>
                  </a:tcPr>
                </a:tc>
                <a:tc>
                  <a:txBody>
                    <a:bodyPr/>
                    <a:lstStyle/>
                    <a:p>
                      <a:pPr>
                        <a:defRPr sz="1050" b="0">
                          <a:solidFill>
                            <a:srgbClr val="1E293B"/>
                          </a:solidFill>
                          <a:latin typeface="Segoe UI"/>
                        </a:defRPr>
                      </a:pPr>
                      <a:r>
                        <a:t>RMSE = √[ (1 / n) Σ (y_i − ŷ_i)² ]</a:t>
                      </a:r>
                    </a:p>
                  </a:txBody>
                  <a:tcPr anchor="ctr" marT="73152" marB="73152" marL="109728" marR="109728">
                    <a:solidFill>
                      <a:srgbClr val="F1F5FC"/>
                    </a:solidFill>
                  </a:tcPr>
                </a:tc>
                <a:tc>
                  <a:txBody>
                    <a:bodyPr/>
                    <a:lstStyle/>
                    <a:p>
                      <a:pPr>
                        <a:defRPr sz="1050" b="0">
                          <a:solidFill>
                            <a:srgbClr val="1E293B"/>
                          </a:solidFill>
                          <a:latin typeface="Segoe UI"/>
                        </a:defRPr>
                      </a:pPr>
                      <a:r>
                        <a:t>Penalizes large outlier errors more heavily</a:t>
                      </a:r>
                    </a:p>
                  </a:txBody>
                  <a:tcPr anchor="ctr" marT="73152" marB="73152" marL="109728" marR="109728">
                    <a:solidFill>
                      <a:srgbClr val="F1F5FC"/>
                    </a:solidFill>
                  </a:tcPr>
                </a:tc>
                <a:tc>
                  <a:txBody>
                    <a:bodyPr/>
                    <a:lstStyle/>
                    <a:p>
                      <a:pPr>
                        <a:defRPr sz="1050" b="0">
                          <a:solidFill>
                            <a:srgbClr val="1E293B"/>
                          </a:solidFill>
                          <a:latin typeface="Segoe UI"/>
                        </a:defRPr>
                      </a:pPr>
                      <a:r>
                        <a:t>$27,489.15</a:t>
                      </a:r>
                    </a:p>
                  </a:txBody>
                  <a:tcPr anchor="ctr" marT="73152" marB="73152" marL="109728" marR="109728">
                    <a:solidFill>
                      <a:srgbClr val="F1F5FC"/>
                    </a:solidFill>
                  </a:tcPr>
                </a:tc>
              </a:tr>
              <a:tr h="868680">
                <a:tc>
                  <a:txBody>
                    <a:bodyPr/>
                    <a:lstStyle/>
                    <a:p>
                      <a:pPr>
                        <a:defRPr sz="1050" b="1">
                          <a:solidFill>
                            <a:srgbClr val="0F1E3C"/>
                          </a:solidFill>
                          <a:latin typeface="Segoe UI"/>
                        </a:defRPr>
                      </a:pPr>
                      <a:r>
                        <a:t>R² Score</a:t>
                      </a:r>
                    </a:p>
                  </a:txBody>
                  <a:tcPr anchor="ctr" marT="73152" marB="73152" marL="109728" marR="109728">
                    <a:solidFill>
                      <a:srgbClr val="ECFDF5"/>
                    </a:solidFill>
                  </a:tcPr>
                </a:tc>
                <a:tc>
                  <a:txBody>
                    <a:bodyPr/>
                    <a:lstStyle/>
                    <a:p>
                      <a:pPr>
                        <a:defRPr sz="1050" b="1">
                          <a:solidFill>
                            <a:srgbClr val="1E293B"/>
                          </a:solidFill>
                          <a:latin typeface="Segoe UI"/>
                        </a:defRPr>
                      </a:pPr>
                      <a:r>
                        <a:t>R² = 1 − [ Σ (y_i − ŷ_i)² / Σ (y_i − ȳ)² ]</a:t>
                      </a:r>
                    </a:p>
                  </a:txBody>
                  <a:tcPr anchor="ctr" marT="73152" marB="73152" marL="109728" marR="109728">
                    <a:solidFill>
                      <a:srgbClr val="ECFDF5"/>
                    </a:solidFill>
                  </a:tcPr>
                </a:tc>
                <a:tc>
                  <a:txBody>
                    <a:bodyPr/>
                    <a:lstStyle/>
                    <a:p>
                      <a:pPr>
                        <a:defRPr sz="1050" b="1">
                          <a:solidFill>
                            <a:srgbClr val="1E293B"/>
                          </a:solidFill>
                          <a:latin typeface="Segoe UI"/>
                        </a:defRPr>
                      </a:pPr>
                      <a:r>
                        <a:t>Share of price variance explained by model</a:t>
                      </a:r>
                    </a:p>
                  </a:txBody>
                  <a:tcPr anchor="ctr" marT="73152" marB="73152" marL="109728" marR="109728">
                    <a:solidFill>
                      <a:srgbClr val="ECFDF5"/>
                    </a:solidFill>
                  </a:tcPr>
                </a:tc>
                <a:tc>
                  <a:txBody>
                    <a:bodyPr/>
                    <a:lstStyle/>
                    <a:p>
                      <a:pPr>
                        <a:defRPr sz="1050" b="1">
                          <a:solidFill>
                            <a:srgbClr val="059669"/>
                          </a:solidFill>
                          <a:latin typeface="Segoe UI"/>
                        </a:defRPr>
                      </a:pPr>
                      <a:r>
                        <a:t>0.8906 (89.06%)</a:t>
                      </a:r>
                    </a:p>
                  </a:txBody>
                  <a:tcPr anchor="ctr" marT="73152" marB="73152" marL="109728" marR="109728">
                    <a:solidFill>
                      <a:srgbClr val="ECFDF5"/>
                    </a:solidFill>
                  </a:tcPr>
                </a:tc>
              </a:tr>
            </a:tbl>
          </a:graphicData>
        </a:graphic>
      </p:graphicFrame>
      <p:sp>
        <p:nvSpPr>
          <p:cNvPr id="7" name="Rounded Rectangle 6"/>
          <p:cNvSpPr/>
          <p:nvPr/>
        </p:nvSpPr>
        <p:spPr>
          <a:xfrm>
            <a:off x="731520" y="5029200"/>
            <a:ext cx="5212080" cy="12344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4846320" cy="1051560"/>
          </a:xfrm>
          <a:prstGeom prst="rect">
            <a:avLst/>
          </a:prstGeom>
          <a:noFill/>
        </p:spPr>
        <p:txBody>
          <a:bodyPr wrap="square">
            <a:spAutoFit/>
          </a:bodyPr>
          <a:lstStyle/>
          <a:p>
            <a:pPr>
              <a:spcAft>
                <a:spcPts val="400"/>
              </a:spcAft>
              <a:defRPr sz="1200" b="1">
                <a:solidFill>
                  <a:srgbClr val="1D4ED8"/>
                </a:solidFill>
              </a:defRPr>
            </a:pPr>
            <a:r>
              <a:t>Interpretation Rules</a:t>
            </a:r>
          </a:p>
          <a:p>
            <a:pPr>
              <a:defRPr sz="1050">
                <a:solidFill>
                  <a:srgbClr val="1E293B"/>
                </a:solidFill>
              </a:defRPr>
            </a:pPr>
            <a:r>
              <a:t>• Lower MAE and RMSE indicate superior dollar precision.</a:t>
            </a:r>
            <a:br/>
            <a:r>
              <a:t>• Higher R² score reflects stronger variance explanation power.</a:t>
            </a:r>
          </a:p>
        </p:txBody>
      </p:sp>
      <p:sp>
        <p:nvSpPr>
          <p:cNvPr id="9" name="Rounded Rectangle 8"/>
          <p:cNvSpPr/>
          <p:nvPr/>
        </p:nvSpPr>
        <p:spPr>
          <a:xfrm>
            <a:off x="6217920" y="5029200"/>
            <a:ext cx="5212080" cy="12344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5120640"/>
            <a:ext cx="4846320" cy="1051560"/>
          </a:xfrm>
          <a:prstGeom prst="rect">
            <a:avLst/>
          </a:prstGeom>
          <a:noFill/>
        </p:spPr>
        <p:txBody>
          <a:bodyPr wrap="square">
            <a:spAutoFit/>
          </a:bodyPr>
          <a:lstStyle/>
          <a:p>
            <a:pPr>
              <a:spcAft>
                <a:spcPts val="400"/>
              </a:spcAft>
              <a:defRPr sz="1200" b="1">
                <a:solidFill>
                  <a:srgbClr val="059669"/>
                </a:solidFill>
              </a:defRPr>
            </a:pPr>
            <a:r>
              <a:t>Validation Protocol</a:t>
            </a:r>
          </a:p>
          <a:p>
            <a:pPr>
              <a:defRPr sz="1050">
                <a:solidFill>
                  <a:srgbClr val="1E293B"/>
                </a:solidFill>
              </a:defRPr>
            </a:pPr>
            <a:r>
              <a:t>• Evaluated on the 20% hold-out test set (292 unseen homes).</a:t>
            </a:r>
            <a:br/>
            <a:r>
              <a:t>• Verified via 5-Fold Cross Validation for statistical robustness.</a:t>
            </a:r>
          </a:p>
        </p:txBody>
      </p:sp>
      <p:sp>
        <p:nvSpPr>
          <p:cNvPr id="11" name="Rectangle 10"/>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3" name="TextBox 12"/>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Results: Model Comparison</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11 / 19</a:t>
            </a:r>
          </a:p>
        </p:txBody>
      </p:sp>
      <p:sp>
        <p:nvSpPr>
          <p:cNvPr id="6" name="Rounded Rectangle 5"/>
          <p:cNvSpPr/>
          <p:nvPr/>
        </p:nvSpPr>
        <p:spPr>
          <a:xfrm>
            <a:off x="731520" y="1371600"/>
            <a:ext cx="56692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5120640" cy="457200"/>
          </a:xfrm>
          <a:prstGeom prst="rect">
            <a:avLst/>
          </a:prstGeom>
          <a:noFill/>
        </p:spPr>
        <p:txBody>
          <a:bodyPr wrap="none">
            <a:spAutoFit/>
          </a:bodyPr>
          <a:lstStyle/>
          <a:p>
            <a:pPr>
              <a:defRPr sz="1500" b="1">
                <a:solidFill>
                  <a:srgbClr val="0F1E3C"/>
                </a:solidFill>
              </a:defRPr>
            </a:pPr>
            <a:r>
              <a:t>Model Evaluation Benchmarks</a:t>
            </a:r>
          </a:p>
        </p:txBody>
      </p:sp>
      <p:graphicFrame>
        <p:nvGraphicFramePr>
          <p:cNvPr id="8" name="Table 7"/>
          <p:cNvGraphicFramePr>
            <a:graphicFrameLocks noGrp="1"/>
          </p:cNvGraphicFramePr>
          <p:nvPr/>
        </p:nvGraphicFramePr>
        <p:xfrm>
          <a:off x="914400" y="2148840"/>
          <a:ext cx="5303520" cy="2377440"/>
        </p:xfrm>
        <a:graphic>
          <a:graphicData uri="http://schemas.openxmlformats.org/drawingml/2006/table">
            <a:tbl>
              <a:tblPr firstRow="1" bandRow="1">
                <a:tableStyleId>{5C22544A-7EE6-4342-B048-85BDC9FD1C3A}</a:tableStyleId>
              </a:tblPr>
              <a:tblGrid>
                <a:gridCol w="2011680"/>
                <a:gridCol w="1097280"/>
                <a:gridCol w="1097280"/>
                <a:gridCol w="1097280"/>
              </a:tblGrid>
              <a:tr h="594360">
                <a:tc>
                  <a:txBody>
                    <a:bodyPr/>
                    <a:lstStyle/>
                    <a:p>
                      <a:pPr>
                        <a:defRPr sz="1100" b="1">
                          <a:solidFill>
                            <a:srgbClr val="FFFFFF"/>
                          </a:solidFill>
                          <a:latin typeface="Segoe UI"/>
                        </a:defRPr>
                      </a:pPr>
                      <a:r>
                        <a:t>Model</a:t>
                      </a:r>
                    </a:p>
                  </a:txBody>
                  <a:tcPr anchor="ctr" marT="73152" marB="73152" marL="109728" marR="109728">
                    <a:solidFill>
                      <a:srgbClr val="1E3A8A"/>
                    </a:solidFill>
                  </a:tcPr>
                </a:tc>
                <a:tc>
                  <a:txBody>
                    <a:bodyPr/>
                    <a:lstStyle/>
                    <a:p>
                      <a:pPr>
                        <a:defRPr sz="1100" b="1">
                          <a:solidFill>
                            <a:srgbClr val="FFFFFF"/>
                          </a:solidFill>
                          <a:latin typeface="Segoe UI"/>
                        </a:defRPr>
                      </a:pPr>
                      <a:r>
                        <a:t>MAE ($)</a:t>
                      </a:r>
                    </a:p>
                  </a:txBody>
                  <a:tcPr anchor="ctr" marT="73152" marB="73152" marL="109728" marR="109728">
                    <a:solidFill>
                      <a:srgbClr val="1E3A8A"/>
                    </a:solidFill>
                  </a:tcPr>
                </a:tc>
                <a:tc>
                  <a:txBody>
                    <a:bodyPr/>
                    <a:lstStyle/>
                    <a:p>
                      <a:pPr>
                        <a:defRPr sz="1100" b="1">
                          <a:solidFill>
                            <a:srgbClr val="FFFFFF"/>
                          </a:solidFill>
                          <a:latin typeface="Segoe UI"/>
                        </a:defRPr>
                      </a:pPr>
                      <a:r>
                        <a:t>RMSE ($)</a:t>
                      </a:r>
                    </a:p>
                  </a:txBody>
                  <a:tcPr anchor="ctr" marT="73152" marB="73152" marL="109728" marR="109728">
                    <a:solidFill>
                      <a:srgbClr val="1E3A8A"/>
                    </a:solidFill>
                  </a:tcPr>
                </a:tc>
                <a:tc>
                  <a:txBody>
                    <a:bodyPr/>
                    <a:lstStyle/>
                    <a:p>
                      <a:pPr>
                        <a:defRPr sz="1100" b="1">
                          <a:solidFill>
                            <a:srgbClr val="FFFFFF"/>
                          </a:solidFill>
                          <a:latin typeface="Segoe UI"/>
                        </a:defRPr>
                      </a:pPr>
                      <a:r>
                        <a:t>R² Score</a:t>
                      </a:r>
                    </a:p>
                  </a:txBody>
                  <a:tcPr anchor="ctr" marT="73152" marB="73152" marL="109728" marR="109728">
                    <a:solidFill>
                      <a:srgbClr val="1E3A8A"/>
                    </a:solidFill>
                  </a:tcPr>
                </a:tc>
              </a:tr>
              <a:tr h="594360">
                <a:tc>
                  <a:txBody>
                    <a:bodyPr/>
                    <a:lstStyle/>
                    <a:p>
                      <a:pPr>
                        <a:defRPr sz="1050" b="1">
                          <a:solidFill>
                            <a:srgbClr val="0F1E3C"/>
                          </a:solidFill>
                          <a:latin typeface="Segoe UI"/>
                        </a:defRPr>
                      </a:pPr>
                      <a:r>
                        <a:t>Linear Regression</a:t>
                      </a:r>
                    </a:p>
                  </a:txBody>
                  <a:tcPr anchor="ctr" marT="73152" marB="73152" marL="109728" marR="109728">
                    <a:solidFill>
                      <a:srgbClr val="FFFFFF"/>
                    </a:solidFill>
                  </a:tcPr>
                </a:tc>
                <a:tc>
                  <a:txBody>
                    <a:bodyPr/>
                    <a:lstStyle/>
                    <a:p>
                      <a:pPr>
                        <a:defRPr sz="1050" b="0">
                          <a:solidFill>
                            <a:srgbClr val="1E293B"/>
                          </a:solidFill>
                          <a:latin typeface="Segoe UI"/>
                        </a:defRPr>
                      </a:pPr>
                      <a:r>
                        <a:t>21,450.80</a:t>
                      </a:r>
                    </a:p>
                  </a:txBody>
                  <a:tcPr anchor="ctr" marT="73152" marB="73152" marL="109728" marR="109728">
                    <a:solidFill>
                      <a:srgbClr val="FFFFFF"/>
                    </a:solidFill>
                  </a:tcPr>
                </a:tc>
                <a:tc>
                  <a:txBody>
                    <a:bodyPr/>
                    <a:lstStyle/>
                    <a:p>
                      <a:pPr>
                        <a:defRPr sz="1050" b="0">
                          <a:solidFill>
                            <a:srgbClr val="1E293B"/>
                          </a:solidFill>
                          <a:latin typeface="Segoe UI"/>
                        </a:defRPr>
                      </a:pPr>
                      <a:r>
                        <a:t>34,120.40</a:t>
                      </a:r>
                    </a:p>
                  </a:txBody>
                  <a:tcPr anchor="ctr" marT="73152" marB="73152" marL="109728" marR="109728">
                    <a:solidFill>
                      <a:srgbClr val="FFFFFF"/>
                    </a:solidFill>
                  </a:tcPr>
                </a:tc>
                <a:tc>
                  <a:txBody>
                    <a:bodyPr/>
                    <a:lstStyle/>
                    <a:p>
                      <a:pPr>
                        <a:defRPr sz="1050" b="0">
                          <a:solidFill>
                            <a:srgbClr val="1E293B"/>
                          </a:solidFill>
                          <a:latin typeface="Segoe UI"/>
                        </a:defRPr>
                      </a:pPr>
                      <a:r>
                        <a:t>86.71%</a:t>
                      </a:r>
                    </a:p>
                  </a:txBody>
                  <a:tcPr anchor="ctr" marT="73152" marB="73152" marL="109728" marR="109728">
                    <a:solidFill>
                      <a:srgbClr val="FFFFFF"/>
                    </a:solidFill>
                  </a:tcPr>
                </a:tc>
              </a:tr>
              <a:tr h="594360">
                <a:tc>
                  <a:txBody>
                    <a:bodyPr/>
                    <a:lstStyle/>
                    <a:p>
                      <a:pPr>
                        <a:defRPr sz="1050" b="1">
                          <a:solidFill>
                            <a:srgbClr val="0F1E3C"/>
                          </a:solidFill>
                          <a:latin typeface="Segoe UI"/>
                        </a:defRPr>
                      </a:pPr>
                      <a:r>
                        <a:t>Decision Tree</a:t>
                      </a:r>
                    </a:p>
                  </a:txBody>
                  <a:tcPr anchor="ctr" marT="73152" marB="73152" marL="109728" marR="109728">
                    <a:solidFill>
                      <a:srgbClr val="F1F5FC"/>
                    </a:solidFill>
                  </a:tcPr>
                </a:tc>
                <a:tc>
                  <a:txBody>
                    <a:bodyPr/>
                    <a:lstStyle/>
                    <a:p>
                      <a:pPr>
                        <a:defRPr sz="1050" b="0">
                          <a:solidFill>
                            <a:srgbClr val="1E293B"/>
                          </a:solidFill>
                          <a:latin typeface="Segoe UI"/>
                        </a:defRPr>
                      </a:pPr>
                      <a:r>
                        <a:t>26,890.10</a:t>
                      </a:r>
                    </a:p>
                  </a:txBody>
                  <a:tcPr anchor="ctr" marT="73152" marB="73152" marL="109728" marR="109728">
                    <a:solidFill>
                      <a:srgbClr val="F1F5FC"/>
                    </a:solidFill>
                  </a:tcPr>
                </a:tc>
                <a:tc>
                  <a:txBody>
                    <a:bodyPr/>
                    <a:lstStyle/>
                    <a:p>
                      <a:pPr>
                        <a:defRPr sz="1050" b="0">
                          <a:solidFill>
                            <a:srgbClr val="1E293B"/>
                          </a:solidFill>
                          <a:latin typeface="Segoe UI"/>
                        </a:defRPr>
                      </a:pPr>
                      <a:r>
                        <a:t>42,350.70</a:t>
                      </a:r>
                    </a:p>
                  </a:txBody>
                  <a:tcPr anchor="ctr" marT="73152" marB="73152" marL="109728" marR="109728">
                    <a:solidFill>
                      <a:srgbClr val="F1F5FC"/>
                    </a:solidFill>
                  </a:tcPr>
                </a:tc>
                <a:tc>
                  <a:txBody>
                    <a:bodyPr/>
                    <a:lstStyle/>
                    <a:p>
                      <a:pPr>
                        <a:defRPr sz="1050" b="0">
                          <a:solidFill>
                            <a:srgbClr val="1E293B"/>
                          </a:solidFill>
                          <a:latin typeface="Segoe UI"/>
                        </a:defRPr>
                      </a:pPr>
                      <a:r>
                        <a:t>74.61%</a:t>
                      </a:r>
                    </a:p>
                  </a:txBody>
                  <a:tcPr anchor="ctr" marT="73152" marB="73152" marL="109728" marR="109728">
                    <a:solidFill>
                      <a:srgbClr val="F1F5FC"/>
                    </a:solidFill>
                  </a:tcPr>
                </a:tc>
              </a:tr>
              <a:tr h="594360">
                <a:tc>
                  <a:txBody>
                    <a:bodyPr/>
                    <a:lstStyle/>
                    <a:p>
                      <a:pPr>
                        <a:defRPr sz="1050" b="1">
                          <a:solidFill>
                            <a:srgbClr val="0F1E3C"/>
                          </a:solidFill>
                          <a:latin typeface="Segoe UI"/>
                        </a:defRPr>
                      </a:pPr>
                      <a:r>
                        <a:t>Tuned Random Forest</a:t>
                      </a:r>
                    </a:p>
                  </a:txBody>
                  <a:tcPr anchor="ctr" marT="73152" marB="73152" marL="109728" marR="109728">
                    <a:solidFill>
                      <a:srgbClr val="ECFDF5"/>
                    </a:solidFill>
                  </a:tcPr>
                </a:tc>
                <a:tc>
                  <a:txBody>
                    <a:bodyPr/>
                    <a:lstStyle/>
                    <a:p>
                      <a:pPr>
                        <a:defRPr sz="1050" b="1">
                          <a:solidFill>
                            <a:srgbClr val="1E293B"/>
                          </a:solidFill>
                          <a:latin typeface="Segoe UI"/>
                        </a:defRPr>
                      </a:pPr>
                      <a:r>
                        <a:t>17,676.40</a:t>
                      </a:r>
                    </a:p>
                  </a:txBody>
                  <a:tcPr anchor="ctr" marT="73152" marB="73152" marL="109728" marR="109728">
                    <a:solidFill>
                      <a:srgbClr val="ECFDF5"/>
                    </a:solidFill>
                  </a:tcPr>
                </a:tc>
                <a:tc>
                  <a:txBody>
                    <a:bodyPr/>
                    <a:lstStyle/>
                    <a:p>
                      <a:pPr>
                        <a:defRPr sz="1050" b="1">
                          <a:solidFill>
                            <a:srgbClr val="1E293B"/>
                          </a:solidFill>
                          <a:latin typeface="Segoe UI"/>
                        </a:defRPr>
                      </a:pPr>
                      <a:r>
                        <a:t>27,489.15</a:t>
                      </a:r>
                    </a:p>
                  </a:txBody>
                  <a:tcPr anchor="ctr" marT="73152" marB="73152" marL="109728" marR="109728">
                    <a:solidFill>
                      <a:srgbClr val="ECFDF5"/>
                    </a:solidFill>
                  </a:tcPr>
                </a:tc>
                <a:tc>
                  <a:txBody>
                    <a:bodyPr/>
                    <a:lstStyle/>
                    <a:p>
                      <a:pPr>
                        <a:defRPr sz="1050" b="1">
                          <a:solidFill>
                            <a:srgbClr val="059669"/>
                          </a:solidFill>
                          <a:latin typeface="Segoe UI"/>
                        </a:defRPr>
                      </a:pPr>
                      <a:r>
                        <a:t>89.06% ★</a:t>
                      </a:r>
                    </a:p>
                  </a:txBody>
                  <a:tcPr anchor="ctr" marT="73152" marB="73152" marL="109728" marR="109728">
                    <a:solidFill>
                      <a:srgbClr val="ECFDF5"/>
                    </a:solidFill>
                  </a:tcPr>
                </a:tc>
              </a:tr>
            </a:tbl>
          </a:graphicData>
        </a:graphic>
      </p:graphicFrame>
      <p:sp>
        <p:nvSpPr>
          <p:cNvPr id="9" name="Rounded Rectangle 8"/>
          <p:cNvSpPr/>
          <p:nvPr/>
        </p:nvSpPr>
        <p:spPr>
          <a:xfrm>
            <a:off x="914400" y="4754880"/>
            <a:ext cx="5303520" cy="128016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846320"/>
            <a:ext cx="4937760" cy="1097280"/>
          </a:xfrm>
          <a:prstGeom prst="rect">
            <a:avLst/>
          </a:prstGeom>
          <a:noFill/>
        </p:spPr>
        <p:txBody>
          <a:bodyPr wrap="square">
            <a:spAutoFit/>
          </a:bodyPr>
          <a:lstStyle/>
          <a:p>
            <a:pPr>
              <a:spcAft>
                <a:spcPts val="300"/>
              </a:spcAft>
              <a:defRPr sz="1100" b="1">
                <a:solidFill>
                  <a:srgbClr val="059669"/>
                </a:solidFill>
              </a:defRPr>
            </a:pPr>
            <a:r>
              <a:t>★ KEY PERFORMANCE TAKEAWAY</a:t>
            </a:r>
          </a:p>
          <a:p>
            <a:pPr>
              <a:defRPr sz="1100" b="1">
                <a:solidFill>
                  <a:srgbClr val="0F1E3C"/>
                </a:solidFill>
              </a:defRPr>
            </a:pPr>
            <a:r>
              <a:t>Tuned Random Forest has the highest R² (89.06%) and the lowest MAE ($17,676.40) and RMSE ($27,489.15), outperforming all baseline models.</a:t>
            </a:r>
          </a:p>
        </p:txBody>
      </p:sp>
      <p:sp>
        <p:nvSpPr>
          <p:cNvPr id="11" name="Rounded Rectangle 10"/>
          <p:cNvSpPr/>
          <p:nvPr/>
        </p:nvSpPr>
        <p:spPr>
          <a:xfrm>
            <a:off x="6675120" y="1371600"/>
            <a:ext cx="47548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_comparison.png"/>
          <p:cNvPicPr>
            <a:picLocks noChangeAspect="1"/>
          </p:cNvPicPr>
          <p:nvPr/>
        </p:nvPicPr>
        <p:blipFill>
          <a:blip r:embed="rId3"/>
          <a:stretch>
            <a:fillRect/>
          </a:stretch>
        </p:blipFill>
        <p:spPr>
          <a:xfrm>
            <a:off x="6858000" y="1554480"/>
            <a:ext cx="4389120" cy="4480560"/>
          </a:xfrm>
          <a:prstGeom prst="rect">
            <a:avLst/>
          </a:prstGeom>
        </p:spPr>
      </p:pic>
      <p:sp>
        <p:nvSpPr>
          <p:cNvPr id="13" name="Rectangle 12"/>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5" name="TextBox 14"/>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Discussion</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12 / 19</a:t>
            </a:r>
          </a:p>
        </p:txBody>
      </p:sp>
      <p:sp>
        <p:nvSpPr>
          <p:cNvPr id="6" name="Rounded Rectangle 5"/>
          <p:cNvSpPr/>
          <p:nvPr/>
        </p:nvSpPr>
        <p:spPr>
          <a:xfrm>
            <a:off x="731520" y="141732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663440" cy="1783080"/>
          </a:xfrm>
          <a:prstGeom prst="rect">
            <a:avLst/>
          </a:prstGeom>
          <a:noFill/>
        </p:spPr>
        <p:txBody>
          <a:bodyPr wrap="square">
            <a:spAutoFit/>
          </a:bodyPr>
          <a:lstStyle/>
          <a:p>
            <a:pPr>
              <a:spcAft>
                <a:spcPts val="800"/>
              </a:spcAft>
              <a:defRPr sz="1400" b="1">
                <a:solidFill>
                  <a:srgbClr val="059669"/>
                </a:solidFill>
              </a:defRPr>
            </a:pPr>
            <a:r>
              <a:t>Random Forest Performance Advantage</a:t>
            </a:r>
          </a:p>
          <a:p>
            <a:pPr>
              <a:defRPr sz="1150">
                <a:solidFill>
                  <a:srgbClr val="1E293B"/>
                </a:solidFill>
              </a:defRPr>
            </a:pPr>
            <a:r>
              <a:t>MAE is $3,774 lower than Linear Regression (representing a 17.6% error reduction). The bagging ensemble successfully aggregates 300 decorrelated trees to capture non-linear relationships that single models miss.</a:t>
            </a:r>
          </a:p>
        </p:txBody>
      </p:sp>
      <p:sp>
        <p:nvSpPr>
          <p:cNvPr id="8" name="Rounded Rectangle 7"/>
          <p:cNvSpPr/>
          <p:nvPr/>
        </p:nvSpPr>
        <p:spPr>
          <a:xfrm>
            <a:off x="6217920" y="141732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663440" cy="1783080"/>
          </a:xfrm>
          <a:prstGeom prst="rect">
            <a:avLst/>
          </a:prstGeom>
          <a:noFill/>
        </p:spPr>
        <p:txBody>
          <a:bodyPr wrap="square">
            <a:spAutoFit/>
          </a:bodyPr>
          <a:lstStyle/>
          <a:p>
            <a:pPr>
              <a:spcAft>
                <a:spcPts val="800"/>
              </a:spcAft>
              <a:defRPr sz="1400" b="1">
                <a:solidFill>
                  <a:srgbClr val="E11D48"/>
                </a:solidFill>
              </a:defRPr>
            </a:pPr>
            <a:r>
              <a:t>Decision Tree Overfitting Vulnerability</a:t>
            </a:r>
          </a:p>
          <a:p>
            <a:pPr>
              <a:defRPr sz="1150">
                <a:solidFill>
                  <a:srgbClr val="1E293B"/>
                </a:solidFill>
              </a:defRPr>
            </a:pPr>
            <a:r>
              <a:t>Decision Tree achieved high training fit but dropped to an R² of only 74.61% on unseen test data, proving high variance and susceptibility to data noise when operating as an unregularized single tree.</a:t>
            </a:r>
          </a:p>
        </p:txBody>
      </p:sp>
      <p:sp>
        <p:nvSpPr>
          <p:cNvPr id="10" name="Rounded Rectangle 9"/>
          <p:cNvSpPr/>
          <p:nvPr/>
        </p:nvSpPr>
        <p:spPr>
          <a:xfrm>
            <a:off x="731520" y="388620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4663440" cy="1783080"/>
          </a:xfrm>
          <a:prstGeom prst="rect">
            <a:avLst/>
          </a:prstGeom>
          <a:noFill/>
        </p:spPr>
        <p:txBody>
          <a:bodyPr wrap="square">
            <a:spAutoFit/>
          </a:bodyPr>
          <a:lstStyle/>
          <a:p>
            <a:pPr>
              <a:spcAft>
                <a:spcPts val="800"/>
              </a:spcAft>
              <a:defRPr sz="1400" b="1">
                <a:solidFill>
                  <a:srgbClr val="1D4ED8"/>
                </a:solidFill>
              </a:defRPr>
            </a:pPr>
            <a:r>
              <a:t>Cross Validation Stability &amp; Robustness</a:t>
            </a:r>
          </a:p>
          <a:p>
            <a:pPr>
              <a:defRPr sz="1150">
                <a:solidFill>
                  <a:srgbClr val="1E293B"/>
                </a:solidFill>
              </a:defRPr>
            </a:pPr>
            <a:r>
              <a:t>5-Fold Cross Validation yielded a mean R² = 0.8742 ± 0.018 across all validation folds, proving that the model generalizes stably and does not suffer from sample bias or partition luck.</a:t>
            </a:r>
          </a:p>
        </p:txBody>
      </p:sp>
      <p:sp>
        <p:nvSpPr>
          <p:cNvPr id="12" name="Rounded Rectangle 11"/>
          <p:cNvSpPr/>
          <p:nvPr/>
        </p:nvSpPr>
        <p:spPr>
          <a:xfrm>
            <a:off x="6217920" y="388620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114800"/>
            <a:ext cx="4663440" cy="1783080"/>
          </a:xfrm>
          <a:prstGeom prst="rect">
            <a:avLst/>
          </a:prstGeom>
          <a:noFill/>
        </p:spPr>
        <p:txBody>
          <a:bodyPr wrap="square">
            <a:spAutoFit/>
          </a:bodyPr>
          <a:lstStyle/>
          <a:p>
            <a:pPr>
              <a:spcAft>
                <a:spcPts val="800"/>
              </a:spcAft>
              <a:defRPr sz="1400" b="1">
                <a:solidFill>
                  <a:srgbClr val="0F1E3C"/>
                </a:solidFill>
              </a:defRPr>
            </a:pPr>
            <a:r>
              <a:t>Optimal Tuned Hyperparameters</a:t>
            </a:r>
          </a:p>
          <a:p>
            <a:pPr>
              <a:defRPr sz="1150">
                <a:solidFill>
                  <a:srgbClr val="1E293B"/>
                </a:solidFill>
              </a:defRPr>
            </a:pPr>
            <a:r>
              <a:t>Hyperparameter optimization established best settings: 300 estimators, max depth 20, min samples split 5, and min samples leaf 2 to prevent leaf-level memorization.</a:t>
            </a:r>
          </a:p>
        </p:txBody>
      </p:sp>
      <p:sp>
        <p:nvSpPr>
          <p:cNvPr id="14" name="Rectangle 13"/>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6" name="TextBox 15"/>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Feature Importance</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13 / 19</a:t>
            </a:r>
          </a:p>
        </p:txBody>
      </p:sp>
      <p:sp>
        <p:nvSpPr>
          <p:cNvPr id="6" name="Rounded Rectangle 5"/>
          <p:cNvSpPr/>
          <p:nvPr/>
        </p:nvSpPr>
        <p:spPr>
          <a:xfrm>
            <a:off x="7315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663440" cy="4389120"/>
          </a:xfrm>
          <a:prstGeom prst="rect">
            <a:avLst/>
          </a:prstGeom>
          <a:noFill/>
        </p:spPr>
        <p:txBody>
          <a:bodyPr wrap="square">
            <a:spAutoFit/>
          </a:bodyPr>
          <a:lstStyle/>
          <a:p>
            <a:pPr>
              <a:spcAft>
                <a:spcPts val="1400"/>
              </a:spcAft>
              <a:defRPr sz="1500" b="1">
                <a:solidFill>
                  <a:srgbClr val="1D4ED8"/>
                </a:solidFill>
              </a:defRPr>
            </a:pPr>
            <a:r>
              <a:t>Primary Valuation Drivers (Gini Metric)</a:t>
            </a:r>
          </a:p>
          <a:p>
            <a:pPr>
              <a:spcAft>
                <a:spcPts val="1200"/>
              </a:spcAft>
            </a:pPr>
            <a:r>
              <a:rPr b="1" sz="1200">
                <a:solidFill>
                  <a:srgbClr val="1D4ED8"/>
                </a:solidFill>
                <a:latin typeface="Segoe UI"/>
              </a:rPr>
              <a:t>• </a:t>
            </a:r>
            <a:r>
              <a:rPr b="1" sz="1200">
                <a:solidFill>
                  <a:srgbClr val="0F1E3C"/>
                </a:solidFill>
                <a:latin typeface="Segoe UI"/>
              </a:rPr>
              <a:t>OverallQual (56.8%): </a:t>
            </a:r>
            <a:r>
              <a:rPr b="0" sz="1200">
                <a:solidFill>
                  <a:srgbClr val="1E293B"/>
                </a:solidFill>
                <a:latin typeface="Segoe UI"/>
              </a:rPr>
              <a:t>Overall material finish and construction rating (1-10 scale) is by far the single most influential pricing determinant.</a:t>
            </a:r>
          </a:p>
          <a:p>
            <a:pPr>
              <a:spcAft>
                <a:spcPts val="1200"/>
              </a:spcAft>
            </a:pPr>
            <a:r>
              <a:rPr b="1" sz="1200">
                <a:solidFill>
                  <a:srgbClr val="1D4ED8"/>
                </a:solidFill>
                <a:latin typeface="Segoe UI"/>
              </a:rPr>
              <a:t>• </a:t>
            </a:r>
            <a:r>
              <a:rPr b="1" sz="1200">
                <a:solidFill>
                  <a:srgbClr val="0F1E3C"/>
                </a:solidFill>
                <a:latin typeface="Segoe UI"/>
              </a:rPr>
              <a:t>GrLivArea (12.4%): </a:t>
            </a:r>
            <a:r>
              <a:rPr b="0" sz="1200">
                <a:solidFill>
                  <a:srgbClr val="1E293B"/>
                </a:solidFill>
                <a:latin typeface="Segoe UI"/>
              </a:rPr>
              <a:t>Above-grade living area in square feet governs the primary spatial footprint premium.</a:t>
            </a:r>
          </a:p>
          <a:p>
            <a:pPr>
              <a:spcAft>
                <a:spcPts val="1200"/>
              </a:spcAft>
            </a:pPr>
            <a:r>
              <a:rPr b="1" sz="1200">
                <a:solidFill>
                  <a:srgbClr val="1D4ED8"/>
                </a:solidFill>
                <a:latin typeface="Segoe UI"/>
              </a:rPr>
              <a:t>• </a:t>
            </a:r>
            <a:r>
              <a:rPr b="1" sz="1200">
                <a:solidFill>
                  <a:srgbClr val="0F1E3C"/>
                </a:solidFill>
                <a:latin typeface="Segoe UI"/>
              </a:rPr>
              <a:t>Decisive Majority (&gt; 69%): </a:t>
            </a:r>
            <a:r>
              <a:rPr b="0" sz="1200">
                <a:solidFill>
                  <a:srgbClr val="1E293B"/>
                </a:solidFill>
                <a:latin typeface="Segoe UI"/>
              </a:rPr>
              <a:t>Together, OverallQual and GrLivArea account for over 69% of the overall property valuation decision.</a:t>
            </a:r>
          </a:p>
          <a:p>
            <a:pPr>
              <a:spcAft>
                <a:spcPts val="1200"/>
              </a:spcAft>
            </a:pPr>
            <a:r>
              <a:rPr b="1" sz="1200">
                <a:solidFill>
                  <a:srgbClr val="1D4ED8"/>
                </a:solidFill>
                <a:latin typeface="Segoe UI"/>
              </a:rPr>
              <a:t>• </a:t>
            </a:r>
            <a:r>
              <a:rPr b="1" sz="1200">
                <a:solidFill>
                  <a:srgbClr val="0F1E3C"/>
                </a:solidFill>
                <a:latin typeface="Segoe UI"/>
              </a:rPr>
              <a:t>Secondary Influences: </a:t>
            </a:r>
            <a:r>
              <a:rPr b="0" sz="1200">
                <a:solidFill>
                  <a:srgbClr val="1E293B"/>
                </a:solidFill>
                <a:latin typeface="Segoe UI"/>
              </a:rPr>
              <a:t>TotalBsmtSF, GarageCars, and YearBuilt contribute smaller, fine-grained valuation adjustments.</a:t>
            </a:r>
          </a:p>
        </p:txBody>
      </p:sp>
      <p:sp>
        <p:nvSpPr>
          <p:cNvPr id="8" name="Rounded Rectangle 7"/>
          <p:cNvSpPr/>
          <p:nvPr/>
        </p:nvSpPr>
        <p:spPr>
          <a:xfrm>
            <a:off x="62179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eature_importance.png"/>
          <p:cNvPicPr>
            <a:picLocks noChangeAspect="1"/>
          </p:cNvPicPr>
          <p:nvPr/>
        </p:nvPicPr>
        <p:blipFill>
          <a:blip r:embed="rId3"/>
          <a:stretch>
            <a:fillRect/>
          </a:stretch>
        </p:blipFill>
        <p:spPr>
          <a:xfrm>
            <a:off x="6400800" y="1554480"/>
            <a:ext cx="4846320" cy="4480560"/>
          </a:xfrm>
          <a:prstGeom prst="rect">
            <a:avLst/>
          </a:prstGeom>
        </p:spPr>
      </p:pic>
      <p:sp>
        <p:nvSpPr>
          <p:cNvPr id="10" name="Rectangle 9"/>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2" name="TextBox 11"/>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Implementation</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14 / 19</a:t>
            </a:r>
          </a:p>
        </p:txBody>
      </p:sp>
      <p:sp>
        <p:nvSpPr>
          <p:cNvPr id="6" name="Rounded Rectangle 5"/>
          <p:cNvSpPr/>
          <p:nvPr/>
        </p:nvSpPr>
        <p:spPr>
          <a:xfrm>
            <a:off x="7315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663440" cy="4389120"/>
          </a:xfrm>
          <a:prstGeom prst="rect">
            <a:avLst/>
          </a:prstGeom>
          <a:noFill/>
        </p:spPr>
        <p:txBody>
          <a:bodyPr wrap="square">
            <a:spAutoFit/>
          </a:bodyPr>
          <a:lstStyle/>
          <a:p>
            <a:pPr>
              <a:spcAft>
                <a:spcPts val="1000"/>
              </a:spcAft>
              <a:defRPr sz="1500" b="1">
                <a:solidFill>
                  <a:srgbClr val="1D4ED8"/>
                </a:solidFill>
              </a:defRPr>
            </a:pPr>
            <a:r>
              <a:t>Tools &amp; Modular Architecture</a:t>
            </a:r>
          </a:p>
          <a:p>
            <a:pPr>
              <a:spcAft>
                <a:spcPts val="1200"/>
              </a:spcAft>
              <a:defRPr sz="1200" b="1">
                <a:solidFill>
                  <a:srgbClr val="0F1E3C"/>
                </a:solidFill>
              </a:defRPr>
            </a:pPr>
            <a:r>
              <a:t>Tools: Python, scikit-learn, Joblib, Streamlit, Flask</a:t>
            </a:r>
          </a:p>
          <a:p>
            <a:pPr>
              <a:spcAft>
                <a:spcPts val="1000"/>
              </a:spcAft>
            </a:pPr>
            <a:r>
              <a:rPr b="1" sz="1200">
                <a:solidFill>
                  <a:srgbClr val="1D4ED8"/>
                </a:solidFill>
                <a:latin typeface="Segoe UI"/>
              </a:rPr>
              <a:t>• </a:t>
            </a:r>
            <a:r>
              <a:rPr b="1" sz="1200">
                <a:solidFill>
                  <a:srgbClr val="0F1E3C"/>
                </a:solidFill>
                <a:latin typeface="Segoe UI"/>
              </a:rPr>
              <a:t>src/preprocessing.py: </a:t>
            </a:r>
            <a:r>
              <a:rPr b="0" sz="1200">
                <a:solidFill>
                  <a:srgbClr val="1E293B"/>
                </a:solidFill>
                <a:latin typeface="Segoe UI"/>
              </a:rPr>
              <a:t>Performs median/mode cleaning and one-hot encoding.</a:t>
            </a:r>
          </a:p>
          <a:p>
            <a:pPr>
              <a:spcAft>
                <a:spcPts val="1000"/>
              </a:spcAft>
            </a:pPr>
            <a:r>
              <a:rPr b="1" sz="1200">
                <a:solidFill>
                  <a:srgbClr val="1D4ED8"/>
                </a:solidFill>
                <a:latin typeface="Segoe UI"/>
              </a:rPr>
              <a:t>• </a:t>
            </a:r>
            <a:r>
              <a:rPr b="1" sz="1200">
                <a:solidFill>
                  <a:srgbClr val="0F1E3C"/>
                </a:solidFill>
                <a:latin typeface="Segoe UI"/>
              </a:rPr>
              <a:t>src/train.py: </a:t>
            </a:r>
            <a:r>
              <a:rPr b="0" sz="1200">
                <a:solidFill>
                  <a:srgbClr val="1E293B"/>
                </a:solidFill>
                <a:latin typeface="Segoe UI"/>
              </a:rPr>
              <a:t>Trains regression models and serializes random_forest_model.pkl.</a:t>
            </a:r>
          </a:p>
          <a:p>
            <a:pPr>
              <a:spcAft>
                <a:spcPts val="1000"/>
              </a:spcAft>
            </a:pPr>
            <a:r>
              <a:rPr b="1" sz="1200">
                <a:solidFill>
                  <a:srgbClr val="1D4ED8"/>
                </a:solidFill>
                <a:latin typeface="Segoe UI"/>
              </a:rPr>
              <a:t>• </a:t>
            </a:r>
            <a:r>
              <a:rPr b="1" sz="1200">
                <a:solidFill>
                  <a:srgbClr val="0F1E3C"/>
                </a:solidFill>
                <a:latin typeface="Segoe UI"/>
              </a:rPr>
              <a:t>src/evaluate.py: </a:t>
            </a:r>
            <a:r>
              <a:rPr b="0" sz="1200">
                <a:solidFill>
                  <a:srgbClr val="1E293B"/>
                </a:solidFill>
                <a:latin typeface="Segoe UI"/>
              </a:rPr>
              <a:t>Computes MAE, RMSE, R² scores, and executes 5-fold CV.</a:t>
            </a:r>
          </a:p>
          <a:p>
            <a:pPr>
              <a:spcAft>
                <a:spcPts val="1000"/>
              </a:spcAft>
            </a:pPr>
            <a:r>
              <a:rPr b="1" sz="1200">
                <a:solidFill>
                  <a:srgbClr val="1D4ED8"/>
                </a:solidFill>
                <a:latin typeface="Segoe UI"/>
              </a:rPr>
              <a:t>• </a:t>
            </a:r>
            <a:r>
              <a:rPr b="1" sz="1200">
                <a:solidFill>
                  <a:srgbClr val="0F1E3C"/>
                </a:solidFill>
                <a:latin typeface="Segoe UI"/>
              </a:rPr>
              <a:t>src/predict.py: </a:t>
            </a:r>
            <a:r>
              <a:rPr b="0" sz="1200">
                <a:solidFill>
                  <a:srgbClr val="1E293B"/>
                </a:solidFill>
                <a:latin typeface="Segoe UI"/>
              </a:rPr>
              <a:t>Dynamically aligns input to 244 columns and runs inference.</a:t>
            </a:r>
          </a:p>
          <a:p>
            <a:pPr>
              <a:spcAft>
                <a:spcPts val="1000"/>
              </a:spcAft>
            </a:pPr>
            <a:r>
              <a:rPr b="1" sz="1200">
                <a:solidFill>
                  <a:srgbClr val="1D4ED8"/>
                </a:solidFill>
                <a:latin typeface="Segoe UI"/>
              </a:rPr>
              <a:t>• </a:t>
            </a:r>
            <a:r>
              <a:rPr b="1" sz="1200">
                <a:solidFill>
                  <a:srgbClr val="0F1E3C"/>
                </a:solidFill>
                <a:latin typeface="Segoe UI"/>
              </a:rPr>
              <a:t>flask_app.py: </a:t>
            </a:r>
            <a:r>
              <a:rPr b="0" sz="1200">
                <a:solidFill>
                  <a:srgbClr val="1E293B"/>
                </a:solidFill>
                <a:latin typeface="Segoe UI"/>
              </a:rPr>
              <a:t>REST API (/api/predict) providing pricing with ± $17,676 interval.</a:t>
            </a:r>
          </a:p>
        </p:txBody>
      </p:sp>
      <p:sp>
        <p:nvSpPr>
          <p:cNvPr id="8" name="Rounded Rectangle 7"/>
          <p:cNvSpPr/>
          <p:nvPr/>
        </p:nvSpPr>
        <p:spPr>
          <a:xfrm>
            <a:off x="62179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de_training.png"/>
          <p:cNvPicPr>
            <a:picLocks noChangeAspect="1"/>
          </p:cNvPicPr>
          <p:nvPr/>
        </p:nvPicPr>
        <p:blipFill>
          <a:blip r:embed="rId3"/>
          <a:stretch>
            <a:fillRect/>
          </a:stretch>
        </p:blipFill>
        <p:spPr>
          <a:xfrm>
            <a:off x="6400800" y="1737360"/>
            <a:ext cx="4846320" cy="3657600"/>
          </a:xfrm>
          <a:prstGeom prst="rect">
            <a:avLst/>
          </a:prstGeom>
        </p:spPr>
      </p:pic>
      <p:sp>
        <p:nvSpPr>
          <p:cNvPr id="10" name="TextBox 9"/>
          <p:cNvSpPr txBox="1"/>
          <p:nvPr/>
        </p:nvSpPr>
        <p:spPr>
          <a:xfrm>
            <a:off x="6400800" y="5577840"/>
            <a:ext cx="4846320" cy="548640"/>
          </a:xfrm>
          <a:prstGeom prst="rect">
            <a:avLst/>
          </a:prstGeom>
          <a:noFill/>
        </p:spPr>
        <p:txBody>
          <a:bodyPr wrap="none">
            <a:spAutoFit/>
          </a:bodyPr>
          <a:lstStyle/>
          <a:p>
            <a:pPr algn="ctr">
              <a:defRPr sz="1050" b="1">
                <a:solidFill>
                  <a:srgbClr val="50647D"/>
                </a:solidFill>
              </a:defRPr>
            </a:pPr>
            <a:r>
              <a:t>Random Forest training function (src/train.py)</a:t>
            </a:r>
          </a:p>
        </p:txBody>
      </p:sp>
      <p:sp>
        <p:nvSpPr>
          <p:cNvPr id="11" name="Rectangle 10"/>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3" name="TextBox 12"/>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Web Application</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15 / 19</a:t>
            </a:r>
          </a:p>
        </p:txBody>
      </p:sp>
      <p:sp>
        <p:nvSpPr>
          <p:cNvPr id="6" name="Rounded Rectangle 5"/>
          <p:cNvSpPr/>
          <p:nvPr/>
        </p:nvSpPr>
        <p:spPr>
          <a:xfrm>
            <a:off x="7315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input_page.png"/>
          <p:cNvPicPr>
            <a:picLocks noChangeAspect="1"/>
          </p:cNvPicPr>
          <p:nvPr/>
        </p:nvPicPr>
        <p:blipFill>
          <a:blip r:embed="rId3"/>
          <a:stretch>
            <a:fillRect/>
          </a:stretch>
        </p:blipFill>
        <p:spPr>
          <a:xfrm>
            <a:off x="914400" y="1554480"/>
            <a:ext cx="4846320" cy="3931920"/>
          </a:xfrm>
          <a:prstGeom prst="rect">
            <a:avLst/>
          </a:prstGeom>
        </p:spPr>
      </p:pic>
      <p:sp>
        <p:nvSpPr>
          <p:cNvPr id="8" name="TextBox 7"/>
          <p:cNvSpPr txBox="1"/>
          <p:nvPr/>
        </p:nvSpPr>
        <p:spPr>
          <a:xfrm>
            <a:off x="914400" y="5623560"/>
            <a:ext cx="4846320" cy="502920"/>
          </a:xfrm>
          <a:prstGeom prst="rect">
            <a:avLst/>
          </a:prstGeom>
          <a:noFill/>
        </p:spPr>
        <p:txBody>
          <a:bodyPr wrap="none">
            <a:spAutoFit/>
          </a:bodyPr>
          <a:lstStyle/>
          <a:p>
            <a:pPr algn="ctr">
              <a:defRPr sz="1100" b="1">
                <a:solidFill>
                  <a:srgbClr val="0F1E3C"/>
                </a:solidFill>
              </a:defRPr>
            </a:pPr>
            <a:r>
              <a:t>Input page: sliders and controls for 14 features</a:t>
            </a:r>
          </a:p>
        </p:txBody>
      </p:sp>
      <p:sp>
        <p:nvSpPr>
          <p:cNvPr id="9" name="Rounded Rectangle 8"/>
          <p:cNvSpPr/>
          <p:nvPr/>
        </p:nvSpPr>
        <p:spPr>
          <a:xfrm>
            <a:off x="62179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i_homepage.png"/>
          <p:cNvPicPr>
            <a:picLocks noChangeAspect="1"/>
          </p:cNvPicPr>
          <p:nvPr/>
        </p:nvPicPr>
        <p:blipFill>
          <a:blip r:embed="rId4"/>
          <a:stretch>
            <a:fillRect/>
          </a:stretch>
        </p:blipFill>
        <p:spPr>
          <a:xfrm>
            <a:off x="6400800" y="1554480"/>
            <a:ext cx="4846320" cy="3931920"/>
          </a:xfrm>
          <a:prstGeom prst="rect">
            <a:avLst/>
          </a:prstGeom>
        </p:spPr>
      </p:pic>
      <p:sp>
        <p:nvSpPr>
          <p:cNvPr id="11" name="TextBox 10"/>
          <p:cNvSpPr txBox="1"/>
          <p:nvPr/>
        </p:nvSpPr>
        <p:spPr>
          <a:xfrm>
            <a:off x="6400800" y="5623560"/>
            <a:ext cx="4846320" cy="502920"/>
          </a:xfrm>
          <a:prstGeom prst="rect">
            <a:avLst/>
          </a:prstGeom>
          <a:noFill/>
        </p:spPr>
        <p:txBody>
          <a:bodyPr wrap="none">
            <a:spAutoFit/>
          </a:bodyPr>
          <a:lstStyle/>
          <a:p>
            <a:pPr algn="ctr">
              <a:defRPr sz="1100" b="1">
                <a:solidFill>
                  <a:srgbClr val="0F1E3C"/>
                </a:solidFill>
              </a:defRPr>
            </a:pPr>
            <a:r>
              <a:t>Homepage: real estate portal with benchmark badge</a:t>
            </a:r>
          </a:p>
        </p:txBody>
      </p:sp>
      <p:sp>
        <p:nvSpPr>
          <p:cNvPr id="12" name="Rectangle 11"/>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4" name="TextBox 13"/>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Advantages and Applications</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16 / 19</a:t>
            </a:r>
          </a:p>
        </p:txBody>
      </p:sp>
      <p:sp>
        <p:nvSpPr>
          <p:cNvPr id="6" name="Rounded Rectangle 5"/>
          <p:cNvSpPr/>
          <p:nvPr/>
        </p:nvSpPr>
        <p:spPr>
          <a:xfrm>
            <a:off x="7315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663440" cy="4389120"/>
          </a:xfrm>
          <a:prstGeom prst="rect">
            <a:avLst/>
          </a:prstGeom>
          <a:noFill/>
        </p:spPr>
        <p:txBody>
          <a:bodyPr wrap="square">
            <a:spAutoFit/>
          </a:bodyPr>
          <a:lstStyle/>
          <a:p>
            <a:pPr>
              <a:spcAft>
                <a:spcPts val="1600"/>
              </a:spcAft>
              <a:defRPr sz="1600" b="1">
                <a:solidFill>
                  <a:srgbClr val="1D4ED8"/>
                </a:solidFill>
              </a:defRPr>
            </a:pPr>
            <a:r>
              <a:t>Key System Advantages</a:t>
            </a:r>
          </a:p>
          <a:p>
            <a:pPr>
              <a:spcAft>
                <a:spcPts val="1600"/>
              </a:spcAft>
            </a:pPr>
            <a:r>
              <a:rPr b="1" sz="1200">
                <a:solidFill>
                  <a:srgbClr val="1D4ED8"/>
                </a:solidFill>
                <a:latin typeface="Segoe UI"/>
              </a:rPr>
              <a:t>• </a:t>
            </a:r>
            <a:r>
              <a:rPr b="1" sz="1200">
                <a:solidFill>
                  <a:srgbClr val="0F1E3C"/>
                </a:solidFill>
                <a:latin typeface="Segoe UI"/>
              </a:rPr>
              <a:t>Objective &amp; Unbiased: </a:t>
            </a:r>
            <a:r>
              <a:rPr b="0" sz="1200">
                <a:solidFill>
                  <a:srgbClr val="1E293B"/>
                </a:solidFill>
                <a:latin typeface="Segoe UI"/>
              </a:rPr>
              <a:t>Eliminates human appraisal subjectivity and cognitive bias by evaluating properties purely via empirical mathematical models.</a:t>
            </a:r>
          </a:p>
          <a:p>
            <a:pPr>
              <a:spcAft>
                <a:spcPts val="1600"/>
              </a:spcAft>
            </a:pPr>
            <a:r>
              <a:rPr b="1" sz="1200">
                <a:solidFill>
                  <a:srgbClr val="1D4ED8"/>
                </a:solidFill>
                <a:latin typeface="Segoe UI"/>
              </a:rPr>
              <a:t>• </a:t>
            </a:r>
            <a:r>
              <a:rPr b="1" sz="1200">
                <a:solidFill>
                  <a:srgbClr val="0F1E3C"/>
                </a:solidFill>
                <a:latin typeface="Segoe UI"/>
              </a:rPr>
              <a:t>Sub-Second Estimation (&lt; 50 ms): </a:t>
            </a:r>
            <a:r>
              <a:rPr b="0" sz="1200">
                <a:solidFill>
                  <a:srgbClr val="1E293B"/>
                </a:solidFill>
                <a:latin typeface="Segoe UI"/>
              </a:rPr>
              <a:t>Replaces the 1-2 week manual inspection timeline with instant valuation, accelerating lending and closing workflows.</a:t>
            </a:r>
          </a:p>
          <a:p>
            <a:pPr>
              <a:spcAft>
                <a:spcPts val="1600"/>
              </a:spcAft>
            </a:pPr>
            <a:r>
              <a:rPr b="1" sz="1200">
                <a:solidFill>
                  <a:srgbClr val="1D4ED8"/>
                </a:solidFill>
                <a:latin typeface="Segoe UI"/>
              </a:rPr>
              <a:t>• </a:t>
            </a:r>
            <a:r>
              <a:rPr b="1" sz="1200">
                <a:solidFill>
                  <a:srgbClr val="0F1E3C"/>
                </a:solidFill>
                <a:latin typeface="Segoe UI"/>
              </a:rPr>
              <a:t>High-Dimensional Pattern Capture: </a:t>
            </a:r>
            <a:r>
              <a:rPr b="0" sz="1200">
                <a:solidFill>
                  <a:srgbClr val="1E293B"/>
                </a:solidFill>
                <a:latin typeface="Segoe UI"/>
              </a:rPr>
              <a:t>Accurately models non-linear interactions across 244 feature dimensions simultaneously.</a:t>
            </a:r>
          </a:p>
        </p:txBody>
      </p:sp>
      <p:sp>
        <p:nvSpPr>
          <p:cNvPr id="8" name="Rounded Rectangle 7"/>
          <p:cNvSpPr/>
          <p:nvPr/>
        </p:nvSpPr>
        <p:spPr>
          <a:xfrm>
            <a:off x="6217920" y="1371600"/>
            <a:ext cx="5212080" cy="489204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663440" cy="4389120"/>
          </a:xfrm>
          <a:prstGeom prst="rect">
            <a:avLst/>
          </a:prstGeom>
          <a:noFill/>
        </p:spPr>
        <p:txBody>
          <a:bodyPr wrap="square">
            <a:spAutoFit/>
          </a:bodyPr>
          <a:lstStyle/>
          <a:p>
            <a:pPr>
              <a:spcAft>
                <a:spcPts val="1600"/>
              </a:spcAft>
              <a:defRPr sz="1600" b="1">
                <a:solidFill>
                  <a:srgbClr val="059669"/>
                </a:solidFill>
              </a:defRPr>
            </a:pPr>
            <a:r>
              <a:t>Real-World Industry Applications</a:t>
            </a:r>
          </a:p>
          <a:p>
            <a:pPr>
              <a:spcAft>
                <a:spcPts val="1200"/>
              </a:spcAft>
            </a:pPr>
            <a:r>
              <a:rPr b="1" sz="1200">
                <a:solidFill>
                  <a:srgbClr val="1D4ED8"/>
                </a:solidFill>
                <a:latin typeface="Segoe UI"/>
              </a:rPr>
              <a:t>• </a:t>
            </a:r>
            <a:r>
              <a:rPr b="1" sz="1200">
                <a:solidFill>
                  <a:srgbClr val="0F1E3C"/>
                </a:solidFill>
                <a:latin typeface="Segoe UI"/>
              </a:rPr>
              <a:t>Mortgage Banking &amp; Underwriting: </a:t>
            </a:r>
            <a:r>
              <a:rPr b="0" sz="1200">
                <a:solidFill>
                  <a:srgbClr val="1E293B"/>
                </a:solidFill>
                <a:latin typeface="Segoe UI"/>
              </a:rPr>
              <a:t>Banks verify loan collateral amounts quickly and automate risk assessments without waiting weeks.</a:t>
            </a:r>
          </a:p>
          <a:p>
            <a:pPr>
              <a:spcAft>
                <a:spcPts val="1200"/>
              </a:spcAft>
            </a:pPr>
            <a:r>
              <a:rPr b="1" sz="1200">
                <a:solidFill>
                  <a:srgbClr val="1D4ED8"/>
                </a:solidFill>
                <a:latin typeface="Segoe UI"/>
              </a:rPr>
              <a:t>• </a:t>
            </a:r>
            <a:r>
              <a:rPr b="1" sz="1200">
                <a:solidFill>
                  <a:srgbClr val="0F1E3C"/>
                </a:solidFill>
                <a:latin typeface="Segoe UI"/>
              </a:rPr>
              <a:t>Buyers &amp; Sellers: </a:t>
            </a:r>
            <a:r>
              <a:rPr b="0" sz="1200">
                <a:solidFill>
                  <a:srgbClr val="1E293B"/>
                </a:solidFill>
                <a:latin typeface="Segoe UI"/>
              </a:rPr>
              <a:t>Provides fair, data-based transparent pricing, preventing overpaying and undervaluing.</a:t>
            </a:r>
          </a:p>
          <a:p>
            <a:pPr>
              <a:spcAft>
                <a:spcPts val="1200"/>
              </a:spcAft>
            </a:pPr>
            <a:r>
              <a:rPr b="1" sz="1200">
                <a:solidFill>
                  <a:srgbClr val="1D4ED8"/>
                </a:solidFill>
                <a:latin typeface="Segoe UI"/>
              </a:rPr>
              <a:t>• </a:t>
            </a:r>
            <a:r>
              <a:rPr b="1" sz="1200">
                <a:solidFill>
                  <a:srgbClr val="0F1E3C"/>
                </a:solidFill>
                <a:latin typeface="Segoe UI"/>
              </a:rPr>
              <a:t>Local Governments &amp; Tax Assessment: </a:t>
            </a:r>
            <a:r>
              <a:rPr b="0" sz="1200">
                <a:solidFill>
                  <a:srgbClr val="1E293B"/>
                </a:solidFill>
                <a:latin typeface="Segoe UI"/>
              </a:rPr>
              <a:t>Municipalities conduct standardized, automated property tax assessments across entire neighborhoods.</a:t>
            </a:r>
          </a:p>
          <a:p>
            <a:pPr>
              <a:spcAft>
                <a:spcPts val="1200"/>
              </a:spcAft>
            </a:pPr>
            <a:r>
              <a:rPr b="1" sz="1200">
                <a:solidFill>
                  <a:srgbClr val="1D4ED8"/>
                </a:solidFill>
                <a:latin typeface="Segoe UI"/>
              </a:rPr>
              <a:t>• </a:t>
            </a:r>
            <a:r>
              <a:rPr b="1" sz="1200">
                <a:solidFill>
                  <a:srgbClr val="0F1E3C"/>
                </a:solidFill>
                <a:latin typeface="Segoe UI"/>
              </a:rPr>
              <a:t>Real Estate Investment Funds (REITs): </a:t>
            </a:r>
            <a:r>
              <a:rPr b="0" sz="1200">
                <a:solidFill>
                  <a:srgbClr val="1E293B"/>
                </a:solidFill>
                <a:latin typeface="Segoe UI"/>
              </a:rPr>
              <a:t>Automate portfolio screening to rapidly identify underpriced assets across thousands of listings.</a:t>
            </a:r>
          </a:p>
        </p:txBody>
      </p:sp>
      <p:sp>
        <p:nvSpPr>
          <p:cNvPr id="10" name="Rectangle 9"/>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2" name="TextBox 11"/>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Future Scope</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17 / 19</a:t>
            </a:r>
          </a:p>
        </p:txBody>
      </p:sp>
      <p:sp>
        <p:nvSpPr>
          <p:cNvPr id="6" name="Rounded Rectangle 5"/>
          <p:cNvSpPr/>
          <p:nvPr/>
        </p:nvSpPr>
        <p:spPr>
          <a:xfrm>
            <a:off x="731520" y="141732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663440" cy="1783080"/>
          </a:xfrm>
          <a:prstGeom prst="rect">
            <a:avLst/>
          </a:prstGeom>
          <a:noFill/>
        </p:spPr>
        <p:txBody>
          <a:bodyPr wrap="square">
            <a:spAutoFit/>
          </a:bodyPr>
          <a:lstStyle/>
          <a:p>
            <a:pPr>
              <a:spcAft>
                <a:spcPts val="800"/>
              </a:spcAft>
              <a:defRPr sz="1400" b="1">
                <a:solidFill>
                  <a:srgbClr val="1D4ED8"/>
                </a:solidFill>
              </a:defRPr>
            </a:pPr>
            <a:r>
              <a:t>01 • Gradient Boosting Ensembles</a:t>
            </a:r>
          </a:p>
          <a:p>
            <a:pPr>
              <a:defRPr sz="1150">
                <a:solidFill>
                  <a:srgbClr val="1E293B"/>
                </a:solidFill>
              </a:defRPr>
            </a:pPr>
            <a:r>
              <a:t>Evaluate modern boosting frameworks including XGBoost, LightGBM, and CatBoost to potentially push R² beyond 90% and accelerate tree inference.</a:t>
            </a:r>
          </a:p>
        </p:txBody>
      </p:sp>
      <p:sp>
        <p:nvSpPr>
          <p:cNvPr id="8" name="Rounded Rectangle 7"/>
          <p:cNvSpPr/>
          <p:nvPr/>
        </p:nvSpPr>
        <p:spPr>
          <a:xfrm>
            <a:off x="6217920" y="141732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663440" cy="1783080"/>
          </a:xfrm>
          <a:prstGeom prst="rect">
            <a:avLst/>
          </a:prstGeom>
          <a:noFill/>
        </p:spPr>
        <p:txBody>
          <a:bodyPr wrap="square">
            <a:spAutoFit/>
          </a:bodyPr>
          <a:lstStyle/>
          <a:p>
            <a:pPr>
              <a:spcAft>
                <a:spcPts val="800"/>
              </a:spcAft>
              <a:defRPr sz="1400" b="1">
                <a:solidFill>
                  <a:srgbClr val="059669"/>
                </a:solidFill>
              </a:defRPr>
            </a:pPr>
            <a:r>
              <a:t>02 • Geospatial &amp; Location Intelligence</a:t>
            </a:r>
          </a:p>
          <a:p>
            <a:pPr>
              <a:defRPr sz="1150">
                <a:solidFill>
                  <a:srgbClr val="1E293B"/>
                </a:solidFill>
              </a:defRPr>
            </a:pPr>
            <a:r>
              <a:t>Incorporate GIS coordinates (latitude and longitude), transit accessibility distance, neighborhood crime rates, and public school ratings into the feature space.</a:t>
            </a:r>
          </a:p>
        </p:txBody>
      </p:sp>
      <p:sp>
        <p:nvSpPr>
          <p:cNvPr id="10" name="Rounded Rectangle 9"/>
          <p:cNvSpPr/>
          <p:nvPr/>
        </p:nvSpPr>
        <p:spPr>
          <a:xfrm>
            <a:off x="731520" y="388620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4663440" cy="1783080"/>
          </a:xfrm>
          <a:prstGeom prst="rect">
            <a:avLst/>
          </a:prstGeom>
          <a:noFill/>
        </p:spPr>
        <p:txBody>
          <a:bodyPr wrap="square">
            <a:spAutoFit/>
          </a:bodyPr>
          <a:lstStyle/>
          <a:p>
            <a:pPr>
              <a:spcAft>
                <a:spcPts val="800"/>
              </a:spcAft>
              <a:defRPr sz="1400" b="1">
                <a:solidFill>
                  <a:srgbClr val="E11D48"/>
                </a:solidFill>
              </a:defRPr>
            </a:pPr>
            <a:r>
              <a:t>03 • Computer Vision Integration</a:t>
            </a:r>
          </a:p>
          <a:p>
            <a:pPr>
              <a:defRPr sz="1150">
                <a:solidFill>
                  <a:srgbClr val="1E293B"/>
                </a:solidFill>
              </a:defRPr>
            </a:pPr>
            <a:r>
              <a:t>Deploy Convolutional Neural Networks (CNNs) to extract visual quality metrics from property photographs (interior finishes, curb appeal, architectural style).</a:t>
            </a:r>
          </a:p>
        </p:txBody>
      </p:sp>
      <p:sp>
        <p:nvSpPr>
          <p:cNvPr id="12" name="Rounded Rectangle 11"/>
          <p:cNvSpPr/>
          <p:nvPr/>
        </p:nvSpPr>
        <p:spPr>
          <a:xfrm>
            <a:off x="6217920" y="388620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114800"/>
            <a:ext cx="4663440" cy="1783080"/>
          </a:xfrm>
          <a:prstGeom prst="rect">
            <a:avLst/>
          </a:prstGeom>
          <a:noFill/>
        </p:spPr>
        <p:txBody>
          <a:bodyPr wrap="square">
            <a:spAutoFit/>
          </a:bodyPr>
          <a:lstStyle/>
          <a:p>
            <a:pPr>
              <a:spcAft>
                <a:spcPts val="800"/>
              </a:spcAft>
              <a:defRPr sz="1400" b="1">
                <a:solidFill>
                  <a:srgbClr val="0F1E3C"/>
                </a:solidFill>
              </a:defRPr>
            </a:pPr>
            <a:r>
              <a:t>04 • Macroeconomic Market Indicators</a:t>
            </a:r>
          </a:p>
          <a:p>
            <a:pPr>
              <a:defRPr sz="1150">
                <a:solidFill>
                  <a:srgbClr val="1E293B"/>
                </a:solidFill>
              </a:defRPr>
            </a:pPr>
            <a:r>
              <a:t>Incorporate dynamic economic indicators including mortgage interest rates, inflation indices, local employment rates, and active housing inventory cycles.</a:t>
            </a:r>
          </a:p>
        </p:txBody>
      </p:sp>
      <p:sp>
        <p:nvSpPr>
          <p:cNvPr id="14" name="Rectangle 13"/>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6" name="TextBox 15"/>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lid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47472"/>
            <a:ext cx="10698480" cy="274320"/>
          </a:xfrm>
          <a:prstGeom prst="rect">
            <a:avLst/>
          </a:prstGeom>
          <a:noFill/>
        </p:spPr>
        <p:txBody>
          <a:bodyPr wrap="square" lIns="0" rIns="0" tIns="0" bIns="0">
            <a:spAutoFit/>
          </a:bodyPr>
          <a:lstStyle/>
          <a:p>
            <a:pPr>
              <a:defRPr sz="950" b="1">
                <a:solidFill>
                  <a:srgbClr val="1D4ED8"/>
                </a:solidFill>
                <a:latin typeface="Segoe UI"/>
              </a:defRPr>
            </a:pPr>
            <a:r>
              <a:t>B.TECH CSE MINI PROJECT | UNITED INSTITUTE OF TECHNOLOGY (284)</a:t>
            </a:r>
          </a:p>
        </p:txBody>
      </p:sp>
      <p:sp>
        <p:nvSpPr>
          <p:cNvPr id="4" name="TextBox 3"/>
          <p:cNvSpPr txBox="1"/>
          <p:nvPr/>
        </p:nvSpPr>
        <p:spPr>
          <a:xfrm>
            <a:off x="731520" y="621792"/>
            <a:ext cx="10698480" cy="594360"/>
          </a:xfrm>
          <a:prstGeom prst="rect">
            <a:avLst/>
          </a:prstGeom>
          <a:noFill/>
        </p:spPr>
        <p:txBody>
          <a:bodyPr wrap="square" lIns="0" rIns="0" tIns="0" bIns="0">
            <a:spAutoFit/>
          </a:bodyPr>
          <a:lstStyle/>
          <a:p>
            <a:pPr>
              <a:defRPr sz="2200" b="1">
                <a:solidFill>
                  <a:srgbClr val="0F1E3C"/>
                </a:solidFill>
                <a:latin typeface="Segoe UI"/>
              </a:defRPr>
            </a:pPr>
            <a:r>
              <a:t>Conclusion</a:t>
            </a:r>
          </a:p>
        </p:txBody>
      </p:sp>
      <p:sp>
        <p:nvSpPr>
          <p:cNvPr id="5" name="TextBox 4"/>
          <p:cNvSpPr txBox="1"/>
          <p:nvPr/>
        </p:nvSpPr>
        <p:spPr>
          <a:xfrm>
            <a:off x="10515600" y="384048"/>
            <a:ext cx="914400" cy="365760"/>
          </a:xfrm>
          <a:prstGeom prst="rect">
            <a:avLst/>
          </a:prstGeom>
          <a:noFill/>
        </p:spPr>
        <p:txBody>
          <a:bodyPr wrap="none">
            <a:spAutoFit/>
          </a:bodyPr>
          <a:lstStyle/>
          <a:p>
            <a:pPr algn="r">
              <a:defRPr sz="1100" b="1">
                <a:solidFill>
                  <a:srgbClr val="50647D"/>
                </a:solidFill>
                <a:latin typeface="Segoe UI"/>
              </a:defRPr>
            </a:pPr>
            <a:r>
              <a:t>18 / 19</a:t>
            </a:r>
          </a:p>
        </p:txBody>
      </p:sp>
      <p:sp>
        <p:nvSpPr>
          <p:cNvPr id="6" name="Rounded Rectangle 5"/>
          <p:cNvSpPr/>
          <p:nvPr/>
        </p:nvSpPr>
        <p:spPr>
          <a:xfrm>
            <a:off x="731520" y="141732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663440" cy="1783080"/>
          </a:xfrm>
          <a:prstGeom prst="rect">
            <a:avLst/>
          </a:prstGeom>
          <a:noFill/>
        </p:spPr>
        <p:txBody>
          <a:bodyPr wrap="square">
            <a:spAutoFit/>
          </a:bodyPr>
          <a:lstStyle/>
          <a:p>
            <a:pPr>
              <a:spcAft>
                <a:spcPts val="800"/>
              </a:spcAft>
              <a:defRPr sz="1400" b="1">
                <a:solidFill>
                  <a:srgbClr val="1D4ED8"/>
                </a:solidFill>
              </a:defRPr>
            </a:pPr>
            <a:r>
              <a:t>Complete End-to-End System</a:t>
            </a:r>
          </a:p>
          <a:p>
            <a:pPr>
              <a:defRPr sz="1150">
                <a:solidFill>
                  <a:srgbClr val="1E293B"/>
                </a:solidFill>
              </a:defRPr>
            </a:pPr>
            <a:r>
              <a:t>Successfully engineered and deployed a full-stack machine learning regression pipeline, bridging raw data preprocessing, cross-validated model training, and interactive web dashboard interfaces.</a:t>
            </a:r>
          </a:p>
        </p:txBody>
      </p:sp>
      <p:sp>
        <p:nvSpPr>
          <p:cNvPr id="8" name="Rounded Rectangle 7"/>
          <p:cNvSpPr/>
          <p:nvPr/>
        </p:nvSpPr>
        <p:spPr>
          <a:xfrm>
            <a:off x="6217920" y="141732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663440" cy="1783080"/>
          </a:xfrm>
          <a:prstGeom prst="rect">
            <a:avLst/>
          </a:prstGeom>
          <a:noFill/>
        </p:spPr>
        <p:txBody>
          <a:bodyPr wrap="square">
            <a:spAutoFit/>
          </a:bodyPr>
          <a:lstStyle/>
          <a:p>
            <a:pPr>
              <a:spcAft>
                <a:spcPts val="800"/>
              </a:spcAft>
              <a:defRPr sz="1400" b="1">
                <a:solidFill>
                  <a:srgbClr val="059669"/>
                </a:solidFill>
              </a:defRPr>
            </a:pPr>
            <a:r>
              <a:t>Superior Predictive Accuracy</a:t>
            </a:r>
          </a:p>
          <a:p>
            <a:pPr>
              <a:defRPr sz="1150">
                <a:solidFill>
                  <a:srgbClr val="1E293B"/>
                </a:solidFill>
              </a:defRPr>
            </a:pPr>
            <a:r>
              <a:t>Tuned Random Forest achieved 89.06% R² and $17,676 MAE on unseen testing data, verified by a stable 5-Fold Cross Validation score of 0.8742 ± 0.018.</a:t>
            </a:r>
          </a:p>
        </p:txBody>
      </p:sp>
      <p:sp>
        <p:nvSpPr>
          <p:cNvPr id="10" name="Rounded Rectangle 9"/>
          <p:cNvSpPr/>
          <p:nvPr/>
        </p:nvSpPr>
        <p:spPr>
          <a:xfrm>
            <a:off x="731520" y="388620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4663440" cy="1783080"/>
          </a:xfrm>
          <a:prstGeom prst="rect">
            <a:avLst/>
          </a:prstGeom>
          <a:noFill/>
        </p:spPr>
        <p:txBody>
          <a:bodyPr wrap="square">
            <a:spAutoFit/>
          </a:bodyPr>
          <a:lstStyle/>
          <a:p>
            <a:pPr>
              <a:spcAft>
                <a:spcPts val="800"/>
              </a:spcAft>
              <a:defRPr sz="1400" b="1">
                <a:solidFill>
                  <a:srgbClr val="E11D48"/>
                </a:solidFill>
              </a:defRPr>
            </a:pPr>
            <a:r>
              <a:t>Actionable Feature Insights</a:t>
            </a:r>
          </a:p>
          <a:p>
            <a:pPr>
              <a:defRPr sz="1150">
                <a:solidFill>
                  <a:srgbClr val="1E293B"/>
                </a:solidFill>
              </a:defRPr>
            </a:pPr>
            <a:r>
              <a:t>Feature importance analysis proved that structural construction quality (56.8%) and above-ground living area (12.4%) represent the primary drivers of residential property valuation.</a:t>
            </a:r>
          </a:p>
        </p:txBody>
      </p:sp>
      <p:sp>
        <p:nvSpPr>
          <p:cNvPr id="12" name="Rounded Rectangle 11"/>
          <p:cNvSpPr/>
          <p:nvPr/>
        </p:nvSpPr>
        <p:spPr>
          <a:xfrm>
            <a:off x="6217920" y="3886200"/>
            <a:ext cx="5212080" cy="2240280"/>
          </a:xfrm>
          <a:prstGeom prst="roundRect">
            <a:avLst/>
          </a:prstGeom>
          <a:solidFill>
            <a:srgbClr val="FFFFFF"/>
          </a:solidFill>
          <a:ln w="15240">
            <a:solidFill>
              <a:srgbClr val="CBD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114800"/>
            <a:ext cx="4663440" cy="1783080"/>
          </a:xfrm>
          <a:prstGeom prst="rect">
            <a:avLst/>
          </a:prstGeom>
          <a:noFill/>
        </p:spPr>
        <p:txBody>
          <a:bodyPr wrap="square">
            <a:spAutoFit/>
          </a:bodyPr>
          <a:lstStyle/>
          <a:p>
            <a:pPr>
              <a:spcAft>
                <a:spcPts val="800"/>
              </a:spcAft>
              <a:defRPr sz="1400" b="1">
                <a:solidFill>
                  <a:srgbClr val="0F1E3C"/>
                </a:solidFill>
              </a:defRPr>
            </a:pPr>
            <a:r>
              <a:t>Instant Real-Time Inference</a:t>
            </a:r>
          </a:p>
          <a:p>
            <a:pPr>
              <a:defRPr sz="1150">
                <a:solidFill>
                  <a:srgbClr val="1E293B"/>
                </a:solidFill>
              </a:defRPr>
            </a:pPr>
            <a:r>
              <a:t>Production deployment on Streamlit and Flask provides sub-second valuation in under 50 ms, demonstrating high commercial viability for real estate and banking workflows.</a:t>
            </a:r>
          </a:p>
        </p:txBody>
      </p:sp>
      <p:sp>
        <p:nvSpPr>
          <p:cNvPr id="14" name="Rectangle 13"/>
          <p:cNvSpPr/>
          <p:nvPr/>
        </p:nvSpPr>
        <p:spPr>
          <a:xfrm>
            <a:off x="731520" y="6473952"/>
            <a:ext cx="10728655" cy="18288"/>
          </a:xfrm>
          <a:prstGeom prst="rect">
            <a:avLst/>
          </a:prstGeom>
          <a:solidFill>
            <a:srgbClr val="CBD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8229600" cy="274320"/>
          </a:xfrm>
          <a:prstGeom prst="rect">
            <a:avLst/>
          </a:prstGeom>
          <a:noFill/>
        </p:spPr>
        <p:txBody>
          <a:bodyPr wrap="square" lIns="0" tIns="0" rIns="0" bIns="0">
            <a:spAutoFit/>
          </a:bodyPr>
          <a:lstStyle/>
          <a:p>
            <a:pPr>
              <a:defRPr sz="850">
                <a:solidFill>
                  <a:srgbClr val="50647D"/>
                </a:solidFill>
                <a:latin typeface="Segoe UI"/>
              </a:defRPr>
            </a:pPr>
            <a:r>
              <a:t>House Price Prediction Using Machine Learning  |  Ashish Kumar (2302840100058)  |  Dept. of CSE, UIT Prayagraj</a:t>
            </a:r>
          </a:p>
        </p:txBody>
      </p:sp>
      <p:sp>
        <p:nvSpPr>
          <p:cNvPr id="16" name="TextBox 15"/>
          <p:cNvSpPr txBox="1"/>
          <p:nvPr/>
        </p:nvSpPr>
        <p:spPr>
          <a:xfrm>
            <a:off x="9601200" y="6519672"/>
            <a:ext cx="1828800" cy="274320"/>
          </a:xfrm>
          <a:prstGeom prst="rect">
            <a:avLst/>
          </a:prstGeom>
          <a:noFill/>
        </p:spPr>
        <p:txBody>
          <a:bodyPr wrap="none" lIns="0" tIns="0" rIns="0" bIns="0">
            <a:spAutoFit/>
          </a:bodyPr>
          <a:lstStyle/>
          <a:p>
            <a:pPr algn="r">
              <a:defRPr sz="850" b="1">
                <a:solidFill>
                  <a:srgbClr val="1D4ED8"/>
                </a:solidFill>
                <a:latin typeface="Segoe UI"/>
              </a:defRPr>
            </a:pPr>
            <a:r>
              <a:t>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uit_logo.png"/>
          <p:cNvPicPr>
            <a:picLocks noChangeAspect="1"/>
          </p:cNvPicPr>
          <p:nvPr/>
        </p:nvPicPr>
        <p:blipFill>
          <a:blip r:embed="rId3"/>
          <a:stretch>
            <a:fillRect/>
          </a:stretch>
        </p:blipFill>
        <p:spPr>
          <a:xfrm>
            <a:off x="5349240" y="640080"/>
            <a:ext cx="1463040" cy="1463040"/>
          </a:xfrm>
          <a:prstGeom prst="rect">
            <a:avLst/>
          </a:prstGeom>
        </p:spPr>
      </p:pic>
      <p:sp>
        <p:nvSpPr>
          <p:cNvPr id="4" name="TextBox 3"/>
          <p:cNvSpPr txBox="1"/>
          <p:nvPr/>
        </p:nvSpPr>
        <p:spPr>
          <a:xfrm>
            <a:off x="1371600" y="2240280"/>
            <a:ext cx="9448495" cy="1920240"/>
          </a:xfrm>
          <a:prstGeom prst="rect">
            <a:avLst/>
          </a:prstGeom>
          <a:noFill/>
        </p:spPr>
        <p:txBody>
          <a:bodyPr wrap="square" lIns="0" tIns="0" rIns="0" bIns="0">
            <a:spAutoFit/>
          </a:bodyPr>
          <a:lstStyle/>
          <a:p>
            <a:pPr algn="ctr">
              <a:spcAft>
                <a:spcPts val="800"/>
              </a:spcAft>
              <a:defRPr sz="4200" b="1">
                <a:solidFill>
                  <a:srgbClr val="0F1E3C"/>
                </a:solidFill>
              </a:defRPr>
            </a:pPr>
            <a:r>
              <a:t>Thank You!</a:t>
            </a:r>
          </a:p>
          <a:p>
            <a:pPr algn="ctr">
              <a:spcAft>
                <a:spcPts val="600"/>
              </a:spcAft>
              <a:defRPr sz="2000" b="1">
                <a:solidFill>
                  <a:srgbClr val="1D4ED8"/>
                </a:solidFill>
              </a:defRPr>
            </a:pPr>
            <a:r>
              <a:t>House Price Prediction Using Machine Learning</a:t>
            </a:r>
          </a:p>
          <a:p>
            <a:pPr algn="ctr">
              <a:defRPr sz="1250">
                <a:solidFill>
                  <a:srgbClr val="50647D"/>
                </a:solidFill>
              </a:defRPr>
            </a:pPr>
            <a:r>
              <a:t>An End-to-End Supervised Regression System Powered by Tuned Random Forest &amp; Interactive Web Deployment</a:t>
            </a:r>
          </a:p>
        </p:txBody>
      </p:sp>
      <p:sp>
        <p:nvSpPr>
          <p:cNvPr id="5" name="Rounded Rectangle 4"/>
          <p:cNvSpPr/>
          <p:nvPr/>
        </p:nvSpPr>
        <p:spPr>
          <a:xfrm>
            <a:off x="3017520" y="4251960"/>
            <a:ext cx="6126480" cy="1554480"/>
          </a:xfrm>
          <a:prstGeom prst="roundRect">
            <a:avLst/>
          </a:prstGeom>
          <a:solidFill>
            <a:srgbClr val="FFFF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4343400"/>
            <a:ext cx="5760720" cy="1371600"/>
          </a:xfrm>
          <a:prstGeom prst="rect">
            <a:avLst/>
          </a:prstGeom>
          <a:noFill/>
        </p:spPr>
        <p:txBody>
          <a:bodyPr wrap="square" lIns="0" tIns="0" rIns="0" bIns="0">
            <a:spAutoFit/>
          </a:bodyPr>
          <a:lstStyle/>
          <a:p>
            <a:pPr algn="ctr">
              <a:spcAft>
                <a:spcPts val="300"/>
              </a:spcAft>
              <a:defRPr sz="1450" b="1">
                <a:solidFill>
                  <a:srgbClr val="0F1E3C"/>
                </a:solidFill>
              </a:defRPr>
            </a:pPr>
            <a:r>
              <a:t>Ashish Kumar  |  Uni. Roll No.: 2302840100058</a:t>
            </a:r>
          </a:p>
          <a:p>
            <a:pPr algn="ctr">
              <a:spcAft>
                <a:spcPts val="200"/>
              </a:spcAft>
              <a:defRPr sz="1200" b="1">
                <a:solidFill>
                  <a:srgbClr val="1D4ED8"/>
                </a:solidFill>
              </a:defRPr>
            </a:pPr>
            <a:r>
              <a:t>Department of Computer Science &amp; Engineering</a:t>
            </a:r>
          </a:p>
          <a:p>
            <a:pPr algn="ctr">
              <a:defRPr sz="1100">
                <a:solidFill>
                  <a:srgbClr val="50647D"/>
                </a:solidFill>
              </a:defRPr>
            </a:pPr>
            <a:r>
              <a:t>United Institute of Technology, Prayagraj (284)</a:t>
            </a:r>
          </a:p>
        </p:txBody>
      </p:sp>
      <p:sp>
        <p:nvSpPr>
          <p:cNvPr id="7" name="TextBox 6"/>
          <p:cNvSpPr txBox="1"/>
          <p:nvPr/>
        </p:nvSpPr>
        <p:spPr>
          <a:xfrm>
            <a:off x="1371600" y="5989320"/>
            <a:ext cx="9448495" cy="457200"/>
          </a:xfrm>
          <a:prstGeom prst="rect">
            <a:avLst/>
          </a:prstGeom>
          <a:noFill/>
        </p:spPr>
        <p:txBody>
          <a:bodyPr wrap="none">
            <a:spAutoFit/>
          </a:bodyPr>
          <a:lstStyle/>
          <a:p>
            <a:pPr algn="ctr">
              <a:defRPr sz="1300" b="1">
                <a:solidFill>
                  <a:srgbClr val="059669"/>
                </a:solidFill>
              </a:defRPr>
            </a:pPr>
            <a:r>
              <a:t>💬 Questions &amp; Viva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